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3" r:id="rId15"/>
    <p:sldId id="274" r:id="rId16"/>
    <p:sldId id="275" r:id="rId17"/>
    <p:sldId id="267" r:id="rId18"/>
    <p:sldId id="276" r:id="rId19"/>
    <p:sldId id="277" r:id="rId20"/>
    <p:sldId id="278" r:id="rId21"/>
    <p:sldId id="281" r:id="rId22"/>
    <p:sldId id="282" r:id="rId23"/>
    <p:sldId id="283" r:id="rId24"/>
    <p:sldId id="279" r:id="rId25"/>
    <p:sldId id="280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84" r:id="rId38"/>
    <p:sldId id="28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121F-F6F5-49D7-BD24-68D771F7B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1714D-7BEC-4CC8-B32B-A7A346EFC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797D8-7424-4E92-AB56-5B1BEF0E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8F423-B201-43C4-A99C-F6460F89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968B3-FCB5-430F-AD9C-9375BF7B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40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32B2-DA7A-4562-B13B-6F62DBAC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5FFC-F1B3-4BE5-8508-989DE815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D2033-DDFB-4414-B0AD-6BC3ADB9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61158-1937-4E9C-BB07-61B8C26F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0FCE3-A335-4083-A0AC-E513745E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0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BA1F1-CAFD-4497-B993-9540C82D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B412E-7D67-470F-9E64-38496B33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CED82-CDA1-4698-953F-7C661AAB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9DAB0-FB85-461B-9AC6-8089C254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26E45-4B6A-4A1E-9D22-4CE5C026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74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ACF2D-5A1F-4368-9DB2-27C84AAB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3415-835C-4939-A19B-DE948597C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4EFAB-8B95-4DC4-96F3-A4F64B5B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8118A-6666-4843-A451-E7070B8A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1AC8E-2F8B-49EE-8187-2B37C6E7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D9E02-9498-4633-8FAC-F22F1220A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71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A8A8-AC72-4F54-9555-0863105BF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BD547-E694-488C-8543-0F7F2A4A9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73E5B-8663-4CAD-ACBF-96642B461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9FE5F-E3F8-42D2-ACC0-F54EF3E23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D5EDFC-5800-46EA-970A-2979013EF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F4187B-E1BD-4FC5-BF6F-B7657CF1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8D2E35-F061-4B57-A45E-B865E256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B836AB-E17F-4811-B0CA-4C629689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15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A55F-B91A-4A6A-AA23-8BF5726E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0B73D-CA51-4190-B146-50127467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3F088-094A-43B6-8F0D-C0F021A8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6B030-7F32-4A54-AE5B-BDA13235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9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44EC8-3AE7-4F25-A6F5-2B49FD69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589D2-51B4-40CC-BCCE-7F2D074A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262B2-1AA3-4E9B-B0C3-2234E772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98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D60A-AA5E-4F59-8367-D7FF65B2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DAD3-94D3-40DD-ADF8-F6566D1C6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E6E13-E5CC-48F6-AC3F-19AF8969F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BEC61-EEAC-40C3-AB83-9C4C7531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54A1F-D21D-44F1-A964-4E1CEB81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D3FE6-ABB8-4D0A-9437-E996248B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85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3795-7440-4E35-937A-7026E0D0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D3A9D-01AC-4D21-AB6B-D3ECE3BA0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B03B6-D5C2-433E-8713-B11E420BE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6D701-773A-4948-8506-62FC65B0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B71FE-1802-477A-B77D-1CD71AE1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BA384-D55E-4650-A17E-FE364AC6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99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8F45-834A-4193-9215-F47F5102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28838-395E-46A5-AE0A-A1FAAEBE5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4815A-6565-416D-B0F3-5BAAFA36E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F06F-4961-44AB-95AE-3A7845C3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72000-D133-4438-94C1-20AC44CB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58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208D9-15DD-4160-93D8-422560FC9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53048-B150-4163-B425-628DF01CF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DB23-0502-4CEF-AFE7-D7D7F092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B451-AE1D-40F0-B91C-0A8E4006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4F3F-87C2-4847-80B5-465F9F2E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6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6C5E8-6B6C-4ABA-B6CF-B0F90930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3C1E7-E72A-4524-95AA-E7F9F9B1E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B2C77-496F-4BD2-8C70-35D3094041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955B1-A813-4617-8495-ACE08B82CDD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A8C91-7D62-4D34-B875-2BEE91321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52D1-641C-48B6-BE46-C17D5AC37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E086F-2755-4EAE-BDF9-F13B7D9A8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8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23B4E-116A-4A1D-B46E-2EA813DA7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I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 Configuration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7A2FC-8980-4601-8BA4-9B463DAE5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Fault Detection in Power Grid lines</a:t>
            </a:r>
          </a:p>
        </p:txBody>
      </p:sp>
    </p:spTree>
    <p:extLst>
      <p:ext uri="{BB962C8B-B14F-4D97-AF65-F5344CB8AC3E}">
        <p14:creationId xmlns:p14="http://schemas.microsoft.com/office/powerpoint/2010/main" val="369043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E9A8-1797-41E5-BB9C-B52EB89D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8012A-D46B-4431-AAC1-E13F79FDE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Altitude Flying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2-25 kgs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Endurance 20mins minimum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 Fencing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GPS both to be used in GNSS module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300m or more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 copter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hexcopter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any other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 payload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as GCS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GCS software with joystick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 degrees Collision Avoidance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69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B544-C854-4332-BB09-DBA356C3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Fault lines in Power Grid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8E645-875D-45BE-9C5D-BF9978790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131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Cameras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1080p camera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Gimble </a:t>
            </a:r>
          </a:p>
        </p:txBody>
      </p:sp>
    </p:spTree>
    <p:extLst>
      <p:ext uri="{BB962C8B-B14F-4D97-AF65-F5344CB8AC3E}">
        <p14:creationId xmlns:p14="http://schemas.microsoft.com/office/powerpoint/2010/main" val="280558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66FC-889A-43BF-984D-BAF4DB5C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Fault lines in Power Grid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72F7F-9E10-4B43-B819-87462B8DA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What Are You Detecting?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anomalies in powerlines typically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conductors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Overheated insulators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Connector/Joint overheating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Arcing/fault heating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your model should classify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vs. fault regions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optionally segment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hotspot 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861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C16B-B7F2-4373-8827-0F1B8B908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774" y="365126"/>
            <a:ext cx="10448026" cy="89433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170E-F4D9-4DE1-B9EC-FE14CB4B2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59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Step 2: AI Algorithm</a:t>
            </a:r>
          </a:p>
          <a:p>
            <a:r>
              <a:rPr lang="en-IN" dirty="0"/>
              <a:t>You have 2 main paths:</a:t>
            </a:r>
          </a:p>
          <a:p>
            <a:r>
              <a:rPr lang="en-IN" b="1" dirty="0"/>
              <a:t>1. Classification / Anomaly Detection (Simpler)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CNN-based model: </a:t>
            </a:r>
            <a:r>
              <a:rPr lang="en-IN" b="1" dirty="0" err="1"/>
              <a:t>ResNet</a:t>
            </a:r>
            <a:r>
              <a:rPr lang="en-IN" b="1" dirty="0"/>
              <a:t>, </a:t>
            </a:r>
            <a:r>
              <a:rPr lang="en-IN" b="1" dirty="0" err="1"/>
              <a:t>MobileNet</a:t>
            </a:r>
            <a:r>
              <a:rPr lang="en-IN" b="1" dirty="0"/>
              <a:t>, </a:t>
            </a:r>
            <a:r>
              <a:rPr lang="en-IN" b="1" dirty="0" err="1"/>
              <a:t>EfficientNet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Input: thermal image → Output: “normal” or “fault”.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Good if you just want a binary decision.</a:t>
            </a:r>
          </a:p>
          <a:p>
            <a:r>
              <a:rPr lang="en-IN" b="1" dirty="0"/>
              <a:t>2. Object Detection / Segmentation (Better)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YOLOv8, YOLOv5, Faster R-CNN</a:t>
            </a:r>
            <a:r>
              <a:rPr lang="en-IN" dirty="0"/>
              <a:t> → detect &amp; box hotspot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U-Net, Mask R-CNN, DeepLabV3</a:t>
            </a:r>
            <a:r>
              <a:rPr lang="en-IN" dirty="0"/>
              <a:t> → pixel-level segmentation of thermal anomalies.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Best if you want </a:t>
            </a:r>
            <a:r>
              <a:rPr lang="en-IN" b="1" dirty="0"/>
              <a:t>location + severity</a:t>
            </a:r>
            <a:r>
              <a:rPr lang="en-IN" dirty="0"/>
              <a:t> of the fault.</a:t>
            </a:r>
          </a:p>
          <a:p>
            <a:pPr marL="0" indent="0">
              <a:buNone/>
            </a:pPr>
            <a:r>
              <a:rPr lang="en-IN" dirty="0"/>
              <a:t>For drone powerline inspection, </a:t>
            </a:r>
            <a:r>
              <a:rPr lang="en-IN" b="1" dirty="0"/>
              <a:t>YOLOv8 (object detection)</a:t>
            </a:r>
            <a:r>
              <a:rPr lang="en-IN" dirty="0"/>
              <a:t> or </a:t>
            </a:r>
            <a:r>
              <a:rPr lang="en-IN" b="1" dirty="0"/>
              <a:t>U-Net (segmentation)</a:t>
            </a:r>
            <a:r>
              <a:rPr lang="en-IN" dirty="0"/>
              <a:t> are commonly used.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44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15E5A-BBDB-4D41-ABA8-8469B218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07" y="612475"/>
            <a:ext cx="10515600" cy="591817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How to Train</a:t>
            </a:r>
          </a:p>
          <a:p>
            <a:pPr>
              <a:buFont typeface="+mj-lt"/>
              <a:buAutoNum type="arabicPeriod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thermal images of powerlines under different loads, times of day, and weather.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images into: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 (fault)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doing detection/segmentation, draw bounding boxes or masks around hotspots.</a:t>
            </a:r>
          </a:p>
          <a:p>
            <a:pPr>
              <a:buFont typeface="+mj-lt"/>
              <a:buAutoNum type="arabicPeriod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thermal data (map temperature range to grayscale or color).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 dataset (rotate, flip, brightness, simulate noise).</a:t>
            </a:r>
          </a:p>
          <a:p>
            <a:pPr>
              <a:buFont typeface="+mj-lt"/>
              <a:buAutoNum type="arabicPeriod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TensorFlow.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YOLOv8 if you want bounding boxes (faster on Jetson).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U-Net if you want segmentation (heavier but more precise).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Cross Entropy (classification) or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 (segmentation).</a:t>
            </a:r>
          </a:p>
          <a:p>
            <a:pPr>
              <a:buFont typeface="+mj-lt"/>
              <a:buAutoNum type="arabicPeriod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for Jetson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trained model →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FP16/INT8.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real-time inference at 15–30 FPS on Jetson Orin.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7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2EDA-9A1F-4519-A4D2-A1E9C7F0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Stereo Camera Configuration for Collision avoidance 360°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5E02-5F76-4311-97F2-9DACFF57B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Stereo depth principle (parallax/disparity → depth)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cameras are separated by a baseline 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feature projects to different pixel locations (disparity d) between left/right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is computed as: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f⋅B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 ,where f = focal length (pixels), B = baseline (meters), d = disparity (pixels).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parallax method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(geometry-based) — it’s the standard and still the foundation.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5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D73B46E-BCF8-495E-B667-F33E4271B0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6275" y="1017540"/>
            <a:ext cx="1124740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Practical stereo algorithms you can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A) Classical methods (fast, well-understood)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matching / Semi-Global Block Matching (SGBM)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(cv2.StereoSGBM_create).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reliable depth if good texture and calibrated cameras.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Jetson can run SGBM at ~10–20 FPS for VGA resolution.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ELAS (Efficient Large-scale Stereo Matching)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robust 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textureless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balance between quality and speed.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Stereo BM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(basic block matching)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fast but noisy; not good enough for thin wires.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Best classical choice for drone: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SGBM (Semi-Global Matching)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595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84954-B464-4667-BD30-50AFEBB3B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56" y="135117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Deep-learning methods (better for thin wires &amp; low-texture)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PSMNet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GCNet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AnyNet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FADNet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GANet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disparity maps, can capture thin structures.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Heavier compute; but some lightweight variants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AnyNet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MobileStereoNet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can run on Jetson Xavier/Orin.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RAFT-Stereo (2021)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accuracy, but computationally expensive.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Jetson Orin could run at low FPS; Nano can’t.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Isaac ROS GEMs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optimized stereo depth modules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StereoDisparity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using SGM on GPU) — designed for Jetson drones.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 wire detection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consider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stereo (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MobileStereoNet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AnyNet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Xavier/Orin.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72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B1B8B-A22C-4D18-94F5-41B5756BB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C)Hybrid methods (classical + refinement)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coarse depth 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network edge-guided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higher edge precision without heavy compute.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14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893A-3964-49F4-A93A-486D9C9E4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For thin wires specifically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 are hard because they’re thin, low contrast, sometimes sub-pixel disparity.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SGBM often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misses them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resolution cameras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 least 720p or 1080p).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distance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(but limited by drone size).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edge-preserving disparity refinement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bilateral filtering).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 stereo depth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wire segmentation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only check disparity along predicted wire pixels.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01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FE18-7052-4E40-BB3F-8C321FC70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Recommendation for your drone (Jetson + Cube+)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Jetson Nano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SGBM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(optimized, lightweight).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Jetson Xavier/Orin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Isaac ROS Stereo Disparity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(GPU-accelerated SGM)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Stereo 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you need higher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powerline inspection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best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CNN to segment wires in RGB.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disparity only on those pixels (stereo-SGBM).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 across frames with IMU to track wires in 3D.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way, you combine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stereo parallax (geometry)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segmentation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thin wires.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011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D1D2-5CDB-48D4-B866-6C3E6774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FAFB4-7D51-45B2-B7C5-9BC93D91B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8BDF981-43D9-4562-A71F-F8B1618FF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93" y="1903263"/>
            <a:ext cx="57613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94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2CAE-F201-4C1E-9D78-E3BA4C80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A6B483-115D-45D8-A346-D475F5453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6" y="-1"/>
            <a:ext cx="12149232" cy="6858001"/>
          </a:xfrm>
        </p:spPr>
      </p:pic>
    </p:spTree>
    <p:extLst>
      <p:ext uri="{BB962C8B-B14F-4D97-AF65-F5344CB8AC3E}">
        <p14:creationId xmlns:p14="http://schemas.microsoft.com/office/powerpoint/2010/main" val="2680001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5BD841-6023-4540-9101-9EC0C3FD5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691" y="448006"/>
            <a:ext cx="8719128" cy="5961987"/>
          </a:xfrm>
        </p:spPr>
      </p:pic>
    </p:spTree>
    <p:extLst>
      <p:ext uri="{BB962C8B-B14F-4D97-AF65-F5344CB8AC3E}">
        <p14:creationId xmlns:p14="http://schemas.microsoft.com/office/powerpoint/2010/main" val="1949276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65C0F-E616-44BC-BDD4-29149C34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4B4CC-B08D-4CB1-BFF3-63CA3379E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204" y="278861"/>
            <a:ext cx="10493596" cy="6484248"/>
          </a:xfrm>
        </p:spPr>
      </p:pic>
    </p:spTree>
    <p:extLst>
      <p:ext uri="{BB962C8B-B14F-4D97-AF65-F5344CB8AC3E}">
        <p14:creationId xmlns:p14="http://schemas.microsoft.com/office/powerpoint/2010/main" val="515413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0982-825B-4759-AFE5-99A6FC6F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 Theoretical Value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9AD5CF-0DE5-4392-A7DB-D6F148F92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 estimate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payload list: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Jetson Orin Super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~60–80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Stereo Cameras (Cube+ ×8)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~3 W each → 24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camera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~5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1080p camera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~3–5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GNSS module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~1–2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controller + sensors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~5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Motors/ESCs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this is the biggest draw → typically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200–300 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drone carrying this payload.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≈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300–400 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flight.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Time = 25-35 mins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23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4422D-80DA-4BF7-B27C-B76DE7BD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Analysis for 360° Collision Avoidance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2A38D-6459-4A2B-955A-C66927AAC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160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1.Stereo Cameras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Perception (Passive Sensing)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Can estimate depth using disparity maps without emitting signals (unlike LiDAR).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Visual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RGB texture, shape, color, and context (helps in classifying objects like vehicles, people, poles).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&amp; Low Power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Cheaper and less power-hungry than LiDAR.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Useful for object detection + AI-based classification.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Close-Range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Works well at short distances (0.2m–20m depending on baseline).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Dependency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Poor in low-light, shadows, or glare; fails at night unless aided by IR/thermal.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Depth calculation from stereo images is heavy on Jetson GPU.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Falls with Distance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Stereo disparity gets unreliable beyond ~20–30m.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Sensitivity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Fog, rain, snow reduce accuracy drastically.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551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27D5-E35F-49C7-B807-EE310EBC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Analysis for 360° Collision Avoidance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B4547-9FB6-43D9-8D3B-EA12142CE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360° LiDAR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Depth (Active Sensing)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Emits laser pulses, independent of ambient lighting.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360° Coverage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Unlike stereo cameras (limited FOV), LiDAR provides all-around mapping.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SLAM &amp; Navigation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High accuracy for obstacle localization and mapping.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Dark/Night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Since it projects its own light source.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Computational 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Point clouds are direct distance measurements.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Texture/Color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Only geometry, cannot classify objects alone (pole vs human).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Vertical FOV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2D LiDAR like X4Pro gives horizontal scan only (no 3D data).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Limits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X4Pro max ~10–12m (shorter compared to advanced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Weather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Rain, dust, sunlight interference can distort readings.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Wear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Moving parts → less durable than solid-state sensors.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48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6D9F-4433-4058-ABA0-7E3B2BB3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AAE6-1626-4492-81EE-559FAF205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BEVFusion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(Bird’s-Eye-View Fusion)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Fuses camera images + LiDAR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bird’s-eye-view grid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in autonomous driving (Tesla-style).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object classification + localization in 3D.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reliable in mixed environments.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(up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95–97% 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computationally heavy → but Orin Super can handle if optimized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07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E6ED04A-A920-4D4F-BD68-8BEC4657BB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92" y="365125"/>
            <a:ext cx="10515600" cy="561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940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D291C9E-295A-4495-8ACD-FB09DFA0AD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92727"/>
            <a:ext cx="10515600" cy="525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280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4068205-2495-4FFD-9481-A0D869F03D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261" y="787662"/>
            <a:ext cx="9359661" cy="554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353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51115-7258-43FC-BB11-459F9C22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1268"/>
            <a:ext cx="10515600" cy="530569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Fusion Models (Best Overall)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MV3D, AVOD, MMF,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BEVFusion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+ camera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inputs → extracts features separately → fuses → final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Compensates weaknesses of each sensor.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reliable (up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95–97% 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collision avoidance.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requires large datasets (KITTI, Waymo, or custom drone dataset).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Bird’s Eye View </a:t>
            </a:r>
          </a:p>
        </p:txBody>
      </p:sp>
    </p:spTree>
    <p:extLst>
      <p:ext uri="{BB962C8B-B14F-4D97-AF65-F5344CB8AC3E}">
        <p14:creationId xmlns:p14="http://schemas.microsoft.com/office/powerpoint/2010/main" val="2140335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594C-681F-4A8A-875F-0AE1C805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for Thermal Camera for fault detection in Power Grid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0C2B7E0-EF8C-4962-A6BE-9B1C7CB7A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Goal &amp; success criteria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thermal anomalies (hotspots) on conductors, insulators, joints, clamps, transformers with a drone-mounted thermal camera and flag GPS locations for inspection.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success metrics: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recall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(true faults found) ≥ 92% (night/early morning).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(false alarms) ≥ 85% after post-processing / fusion.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error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1–3 m (GPS + camera geo-tagging).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latency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inference ≤ 200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/frame (real-time on Jetson Orin).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05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745E0-D87E-4945-8ECE-6BF91AA76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936"/>
            <a:ext cx="10515600" cy="620239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2)Hardware &amp; sensor setup (practical)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camera: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radiometric thermal camera with per-pixel temperature output preferred (e.g., FLIR/Teledyne or </a:t>
            </a:r>
            <a:r>
              <a:rPr lang="en-IN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Skydroid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C12 if radiometric). Radiometric simplifies </a:t>
            </a:r>
            <a:r>
              <a:rPr lang="el-GR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measurement.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thermal resolution → better small hotspot detection. Aim for ≥ 640×512 radiometric if possible; 320×240 still usable but needs lower flight height.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/ FOV: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FOV such that GSD (Ground Sample Distance) at inspection altitude gives hotspot pixels ≥ 6–10 pixels across for reliable detection (see GSD formula below).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Stabilization: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two-axis gimbal to keep camera nadir / desired angle and reduce motion blur.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GNSS/IMU: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RTK GPS or precise GNSS preferred for sub-3 m geotagging; otherwise combine drone GPS + IMU + known camera </a:t>
            </a:r>
            <a:r>
              <a:rPr lang="en-IN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extrinsics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Lighting: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thermal is independent of visible light — best flown at night or early morning to avoid solar heating false positives.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recorder: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radiometric images (temperature), timestamp, GPS, altitude, camera angle, and RAW metadata for each frame.</a:t>
            </a:r>
          </a:p>
          <a:p>
            <a:r>
              <a:rPr lang="en-IN" sz="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GSD (thermal) formula:</a:t>
            </a:r>
            <a:b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GSD (m/pixel) ≈ (Altitude * </a:t>
            </a:r>
            <a:r>
              <a:rPr lang="en-IN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sensor_pixel_size</a:t>
            </a: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</a:t>
            </a:r>
            <a:r>
              <a:rPr lang="en-IN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focal_length</a:t>
            </a:r>
            <a:b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rule: ensure a hotspot of interest (e.g., 1–2 cm heating at a clamp) produces ≥ 6 pixels across → choose altitude accordingly.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706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5874-B7DD-4A9E-96CF-5028A5826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826"/>
            <a:ext cx="10515600" cy="62627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Flight planning &amp; data collection protocol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time to fly: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pre-dawn / early morning (minimal solar heating). Night if possible.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Altitude &amp; 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altitude so GSD gives hotspot ≥6 px; typical inspection altitudes 5–15 m for line inspections. Speed ≤ 3–5 m/s to reduce motion blur and ensure overlap.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 &amp; sweep: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overlap ~60–80% forward, 40–60% side to ensure full coverage and multiple viewpoints for each asset.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nadir + oblique passes (15–30°) to see sides of insulators and joints.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each element from at least 2 different passes/angles.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runs: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main missions, fly a blackbody target and a known emissivity reference at same altitude to calibrate emissivity &amp; temperature readings.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900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C897-B510-41A1-9F38-786508DF5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166"/>
            <a:ext cx="10515600" cy="59267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(radiometric &amp; image corrections)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Emissivity correction: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camera emissivity to expected values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aluminum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/steel vs ceramic insulator). If radiometric, store emissivity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Reflections &amp; solar noise: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frames captured during sunlit hours or apply reflection masks (specular highlights).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&amp; down-sampling: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temporal smoothing (median over 3 frames) to reduce noise. Keep original radiometric values for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calibration: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blackbody images to correct any offset/scale drift. If no blackbody, use known ambient references (transformer body).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radiometric values to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relative to local baseline (local mean ± std in local window) to detect local anomalies independent of absolute ambient.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854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B5F7-2D50-45E0-9A6F-4E3678F11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3245"/>
            <a:ext cx="10515600" cy="54437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Labeling &amp; dataset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to collect: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bounding boxes for hotspots, segmentation masks for heater regions, classes (conductor, insulator, clamp, transformer, corona, arcing). Also label false positives (sun glare, reflective metal).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tips: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label exact hotspot region in thermal; keep tight boxes; also annotate component type in RGB if you have fused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variety: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across seasons, day/night, weather, distances, altitudes. Include negative samples (healthy lines) and common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confusers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(sun reflecting, hot ground nearby, animals).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5k thermal frames with ~3–10k hotspot annotations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start; for high-recall production push to 10–20k annotations.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70%,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15%, test 15% — ensure split by flight/run to avoid leakage.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32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3228B-D3EB-4443-8D25-BAC30E6FF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7"/>
            <a:ext cx="10515600" cy="55903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Model selection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hybrid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best practical results: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 (real-time): YOLOv8 (or YOLOv7/tiny) on radiometric frames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fast hotspot candidate detection, class prediction.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YOLOv8: good speed/accuracy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easy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bounding boxes + confidence + per-box max temperature.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 (segmentation / anomaly scoring):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DeepLabV3 on cropped hot candidates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precise hotspot mask, measure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area and shape.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pixel mask, hotspot area, mean/max temp.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/ confirm stage (optional): Autoencoder or classical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rule + temporal consistency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reduce false positives; use expected baseline (line temp pattern) and flag deviations.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thermal+RGB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you also record RGB, run a lightweight classifier or use BEV fusion to confirm component context (is that hotspot on a clamp vs sun reflection?). Fusion increases precision.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496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32EC-F95E-4750-B2DE-CCB1C370B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9722"/>
            <a:ext cx="10515600" cy="5978555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Training strategy &amp; augmentation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prep: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 radiometric values as single-channel float (not palette). If model expects 3 channels, replicate or add gradient/edge channels. Normalize per-image.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horizontal flip, small rotation, additive gaussian noise (to mimic sensor noise), brightness scaling (simulate ambient variance), random crops, blur to mimic motion. Do NOT arbitrarily change temperature scaling (preserve radiometry).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detector use BCE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CIoU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for segmentation use BCE + Dice.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(starter):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YOLOv8 small,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=0.001, batch=16 (reduce if GPU memory), epochs=100, weight decay=0.0005. Use mixed precision (FP16).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from COCO/thermal pre-trained weights if available; fine-tune on your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mAP@0.5, recall, precision, and per-class F1. Track temperature-based metrics: mean absolute error of predicted max temp within box.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9437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289-183C-49FA-9EF4-50ED4A3F0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574"/>
            <a:ext cx="10515600" cy="5728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Thresholding, scoring &amp; decision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threshold (ΔT):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dynamic thresholds: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ΔT_hot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max(5–10°C above local mean) for suspect, but tune per environment. Typical detection ΔT ≥ 7°C gives good precision; use lower ΔT for highly sensitive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fusion: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both detector confidence ≥ 0.45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ΔT ≥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ΔT_hot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segmentation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0.4 to mark as confirmed.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confirmation: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hotspot detection in ≥2 consecutive frames (or from ≥2 viewpoints) within 2–3 s to reduce spurious flashes.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Geo-clustering: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consolidate multiple detections within 3 m into one event; aggregate max temp, average, number of views.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458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F59E-DCDD-420D-A498-50818883C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8136"/>
            <a:ext cx="10515600" cy="5348827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9) Metrics &amp; expected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metrics: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 for mAP@0.5 ≥ 0.88, recall ≥ 0.92, precision ≥ 0.85 after fusion &amp; temporal filtering.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accuracy: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radiometric calibrated, MAE ≤ 1.5–2.5°C typical; if non-radiometric, give relative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only.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geotagging error depends on GPS; with RTK expect ≤0.5–1 m; with standard GPS expect 2–5 m. Camera pose/extrinsic errors add to this — calibrate carefully.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070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D0292-CD6A-4314-A999-B0BA61A42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0498"/>
            <a:ext cx="10515600" cy="54264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10) Deployment on Jetson Orin Super (real-time)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engine: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YOLOv8 → ONNX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FP16, run with batch=1. For segmentation model do same.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radiometric frame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YOLOv8 inference (GPU) → crop candidates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inference (GPU) → scoring logic → log/telemetry.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targets: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YOLOv8-nano/small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(cropped) should reach 15–30 fps on Orin Super if optimized.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&amp; CPU: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sensor capture &amp; GPS/telemetry on separate CPU threads, use zero-copy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GStreamer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camera input to reduce latency.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Failover: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GPU overloaded, fallback to a lightweight rule-based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thresholding to continue basic fault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769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11F4-CE20-4718-BEEB-7D025F882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5608"/>
            <a:ext cx="10515600" cy="552135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11) Post-processing &amp;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record: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store: timestamp, GPS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lat,lon,alt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camera pose,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/mask,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maxTemp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confidence, images (thermal and RGB if available).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UI: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overlay (hotspot box + temperature + map pin). Allow operator to confirm / reject. Keep audit trail.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auto-create ticket with location + image + predicted severity. Queue for follow-up inspection.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733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FA470-559A-442E-AC10-6D95E0908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40" y="617926"/>
            <a:ext cx="10515600" cy="559309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12) Testing, validation &amp; field trials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tests: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artificial hotspots using controlled heaters and known targets to validate sensitivity &amp; calibration.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tests: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missions over known-good lines + planted faults. Measure recall/precision, MAE temperature, geotag error.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cases to test: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solar reflections, hot ground, rain/fog, heavy foliage, connectors behind insulators, multiple simultaneous faults.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missions show recall ≥ 92% and false positive rate ≤ 15% after operator filtering.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678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ABA4-AC5A-429B-A856-91859A8DC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SAMPLES of Thermal Images Hotspots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8D22509-7BF3-4402-B936-EE4062198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6659" y="1825625"/>
            <a:ext cx="4318681" cy="4351338"/>
          </a:xfrm>
        </p:spPr>
      </p:pic>
    </p:spTree>
    <p:extLst>
      <p:ext uri="{BB962C8B-B14F-4D97-AF65-F5344CB8AC3E}">
        <p14:creationId xmlns:p14="http://schemas.microsoft.com/office/powerpoint/2010/main" val="17201811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9C03-E9C8-4A1A-91DB-9C6BDDF4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INDICATION OF HIGH Temperature and points the HOTSPOTS in power grid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E4B35-DC82-4369-95AA-0A6ABE75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2167F66D-4CCF-4AE0-9519-841A669F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59" y="1895975"/>
            <a:ext cx="5058481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31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3153</Words>
  <Application>Microsoft Office PowerPoint</Application>
  <PresentationFormat>Widescreen</PresentationFormat>
  <Paragraphs>242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Office Theme</vt:lpstr>
      <vt:lpstr>Drone Configuration </vt:lpstr>
      <vt:lpstr>Requirements</vt:lpstr>
      <vt:lpstr>Detection of Fault lines in Power Grid </vt:lpstr>
      <vt:lpstr>Detection of Fault lines in Power Grid </vt:lpstr>
      <vt:lpstr>PowerPoint Presentation</vt:lpstr>
      <vt:lpstr>PowerPoint Presentation</vt:lpstr>
      <vt:lpstr>Stereo Camera Configuration for Collision avoidance 360°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INTEGRATION BLOCK DIAGRAM</vt:lpstr>
      <vt:lpstr>PowerPoint Presentation</vt:lpstr>
      <vt:lpstr>PowerPoint Presentation</vt:lpstr>
      <vt:lpstr>PowerPoint Presentation</vt:lpstr>
      <vt:lpstr>Power Consumption Theoretical Value</vt:lpstr>
      <vt:lpstr>AI Analysis for 360° Collision Avoidance </vt:lpstr>
      <vt:lpstr>AI Analysis for 360° Collision Avoidance </vt:lpstr>
      <vt:lpstr>Methods </vt:lpstr>
      <vt:lpstr>PowerPoint Presentation</vt:lpstr>
      <vt:lpstr>PowerPoint Presentation</vt:lpstr>
      <vt:lpstr>PowerPoint Presentation</vt:lpstr>
      <vt:lpstr>PowerPoint Presentation</vt:lpstr>
      <vt:lpstr>Methodology for Thermal Camera for fault detection in Power Grid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SAMPLES of Thermal Images Hotspots</vt:lpstr>
      <vt:lpstr>INDICATION OF HIGH Temperature and points the HOTSPOTS in power grid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Shishir A</dc:creator>
  <cp:lastModifiedBy>Shishir A</cp:lastModifiedBy>
  <cp:revision>22</cp:revision>
  <dcterms:created xsi:type="dcterms:W3CDTF">2025-09-10T06:04:08Z</dcterms:created>
  <dcterms:modified xsi:type="dcterms:W3CDTF">2026-02-09T06:34:27Z</dcterms:modified>
</cp:coreProperties>
</file>