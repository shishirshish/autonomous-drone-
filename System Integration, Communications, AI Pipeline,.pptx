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5" r:id="rId15"/>
    <p:sldId id="276" r:id="rId16"/>
    <p:sldId id="266" r:id="rId17"/>
    <p:sldId id="277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92" r:id="rId34"/>
    <p:sldId id="293" r:id="rId35"/>
    <p:sldId id="306" r:id="rId36"/>
    <p:sldId id="294" r:id="rId37"/>
    <p:sldId id="295" r:id="rId38"/>
    <p:sldId id="285" r:id="rId39"/>
    <p:sldId id="286" r:id="rId40"/>
    <p:sldId id="287" r:id="rId41"/>
    <p:sldId id="288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E3DBE-9E30-4A50-B835-79EF1571B185}" v="11" dt="2025-10-07T11:08:12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0-07T10:53:43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22701 2628 0</inkml:trace>
  <inkml:trace contextRef="#ctx0" brushRef="#br0" timeOffset="423.22">23601 2805 0,'-35'0'0,"17"17"0,71-34 0,-124 34 0,54-17 15,-54 36-15,-35-19 16,89-17 0,34 0 46,1-17-46,0 17-16,-1-18 0,212-53 15,89 1 1,-265 70-16,53-36 16</inkml:trace>
  <inkml:trace contextRef="#ctx0" brushRef="#br0" timeOffset="5565">24659 4851 0,'18'0'31,"-1"0"16,1 0-31,0 0-16,35 0 15,-18 0-15,141 0 16,-158 0-16,211 0 16,-211 0-16,158-18 15,-88 18 1,-70 0 0,0 0 93,141 18-93,-124-18-1,-18 0-15,89 0 16,-70 0-1,-19 0 32,18 0-31,-35 17-16,18-17 16,0 0 46,-1 0-62,1 0 31,-18 18-31,35-18 32,-17 0-32,52 0 15,1 0 1,-53 0-1,-1 0 17,1 0-17,0 0-15,17 18 16,-18-18 0,-17 17 30,18-17-46,0 0 0,-1 0 16,1 0 15,0 0 32,-1 0-16,1 0-32,0 0-15,-1 0 16,1 0-16</inkml:trace>
  <inkml:trace contextRef="#ctx0" brushRef="#br0" timeOffset="7936.54">22454 4374 0,'18'0'63,"-18"-17"-63,106 17 15,-89 0-15,142 0 16,35 35-1,-194-17-15,177 35 16,-160-36-16,107 71 16,70 71-1,-194-141-15,194 158 16,-159-158-16,159 105 16,-35-52 15,-89-71-16,19 18 1,52-18 0,-71 0-1,-52 0 48,-18 17-63,18-17 15</inkml:trace>
  <inkml:trace contextRef="#ctx0" brushRef="#br0" timeOffset="8836.51">23848 4269 0,'-18'0'62,"0"0"-62,-52 0 16,35 17-16,-142 71 15,1 1 1,176-72-16,-159 71 16,159-70-1,-88 53 1,70-71-16,-17 53 15,-18-18 1,35 0 0,-17 0-1,18 1 1,-19 34 0,1 18-1,35-70-15,-53 70 16,18-17-1,17-71-15,1 53 16,-1-36 0,0 36-1,-17-17 1,35-1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3269-2E84-43D2-A03A-E196436B3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655DF-4922-493A-AAC5-A5A73B3DE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63471-1088-45BC-94B4-50B94023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DD5BB-0130-49DD-B234-15284DC3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64361-B606-4406-9C5C-C12921E7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98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5505-E1DF-46D3-882F-67BA7C26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D4191-92D3-4561-9659-C287CB5EA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F2412-EF02-42AC-963A-AE963276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C958A-0EB3-4D01-AE96-8CDF44F8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3B4CC-E2CA-4C40-ABD1-205732A0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5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54BF-B616-4BFF-AEC5-969929462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5DC18-E357-4772-B5E5-E5D30DB2C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FA0F8-4043-4558-98D1-BB0C22F6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580F1-F36C-4EF2-A905-A9FB3F65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34446-7EA8-4F01-A4E9-1692D2E8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35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1B96-B200-477C-A05A-26F63794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19AEC-77E4-4DF2-8152-8F98A2C51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ED0E3-AF52-4E72-B393-6B77E1BDF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31134-B59A-4C9F-AEA2-86A5B383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C4EDC-9689-414E-823A-B9B60869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13DD0-3AC2-49FC-8EF2-7CBB2207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61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C1E8-4BAA-4FB8-A899-F8CAE63B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355E6-57D9-4A07-9F80-229907DE7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B89DE-1D75-495C-ABB5-8E4857FF2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E110E-B04D-4A14-B312-AD5706C3C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643CB-24A2-4DF1-8DCA-B520EACE6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C92F8-8996-4436-B592-86DE8490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028149-65B6-4E37-94A6-136F4D94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FCCDF-F749-42C6-9A1A-CB09F3D9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3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30BE-FF9E-44FD-92ED-F986B11D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1F82F-9BAA-482A-B3C9-41715B1C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55E5C-568E-410E-B830-4118BE87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652A81-5625-4857-8320-E43888D3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02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0C6C4-B409-45A0-9B80-F0B7DAC7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96ADC6-C7F1-45FB-8F8D-0374690E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4DFBC-BDD1-48EE-9B7E-75E89EB0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53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5427-FB1A-4CFE-B53C-420916781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F75E-5E64-4648-A512-9409B4A9A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422AA-C1F6-4A6A-AC77-4707F6E2A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D0D1A-CF2B-4D21-9F59-C6ED6094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1ED04-D350-4C03-9D6C-62573107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C618-A228-4C6E-8CE8-6EFAF4E1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8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277B-9642-47A8-92C0-2E442C62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D8EC9B-EB83-4D52-BF93-BA89865D5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C0D9D-8063-4867-9D79-70AACA75E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91464-74CB-45F7-880A-D7BE03F2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40DE4-5C8E-4F8C-A5A4-6B424C12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17969-07DF-42FC-843A-542A4D45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35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617B0-9293-4110-A49A-2BF9E351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19C09-F9B2-4D28-B371-61C95312A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5BB07-0F7D-421A-AD88-C2ACEA81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C93FB-2438-4E36-ADB3-1894C9BA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05399-0C44-435C-8F65-9C755362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43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997E4-3E7F-4F04-A5EC-0A4A02E9C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39F51-D1A8-40C5-A41D-9328F209A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9ACD1-0ED5-4AF9-8CC6-35790707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C34D8-B5A5-4144-9F4B-964D4DC8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27887-4E79-416A-A22E-213D41FF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38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C88D1-67ED-4697-9566-8170F43EC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00B6E-9194-48FA-A74C-454D2A4EF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1B53D-6E24-4577-A1F0-505799E37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3074D-8316-4467-B186-C3CA0340DC64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E8FBA-EB1F-4014-897A-DC465B428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25AAA-AE6A-4F37-83B7-E2278FAFB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7A99E-1F12-4C79-9EF0-8ED15FC63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14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FDB8-7E14-41E7-B72F-4AF3313F3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4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Integration, Communications, AI Pipeline, and Wiring for Perception System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72DAC-3D62-44B9-8EEC-55908E48A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535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6640-E060-4051-8DC9-9606CB49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FF57C-FA43-41FC-B733-38DFCEB1C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pecifies the end-to-end hardware and software integration for a 360° collision-avoidance and inspection using 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hexacopter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configuration. It details physical connections and serial/UART/CSI/USB mappings, communication protocols, message types and rates, the AI perception stack for LiDAR and stereo cameras, the voxel/ESDF mapping and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kinodynamic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MPC planner, timing and latency budgets, and comprehensive calibration, testing, and deployment steps. The SIYI ZR30 optical zoom is used exclusively for manual/automated inspection and streams to the GCS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59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0D4C-CF10-4128-9468-7704804F0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System </a:t>
            </a:r>
            <a:b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E15D2-DAFD-4E90-80C3-65FD15F76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Sensors: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 LiDAR (2D) → Serial/USB → Jetson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Servo (PWM) → Jetson MCU / PWM controller (for LiDAR rotation control)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Stereo Cameras (IMX219) × 8 (4 stereo pairs) → Jetson CSI lanes / USB3 (if needed)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SIYI ZR30 gimbal camera → Gimbal controller → Jetson or Cube+ / GCS (RTSP)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GNSS #1 → Cube+ UART1 (primary)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GNSS #2 → Cube+ UART2 or CAN (redundant)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IMU → Cube+ (internal), Jetson receives attitude from Cube+ via </a:t>
            </a:r>
            <a:r>
              <a:rPr lang="en-IN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Compute: Jetson Orin Super Nano (perception, mapping, planning) ↔ Cube+ (flight control) via </a:t>
            </a:r>
            <a:r>
              <a:rPr lang="en-IN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(UART4 @ 921600 or Ethernet/UDP)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Telemetry Radio ↔ Cube+ UART3 → GCS (Mission Planner/</a:t>
            </a:r>
            <a:r>
              <a:rPr lang="en-IN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QGroundControl</a:t>
            </a: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over </a:t>
            </a:r>
            <a:r>
              <a:rPr lang="en-IN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en-IN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distribution: Battery → Power module (voltage/current measurement) → ESCs &amp; DC-DC regulators for 5V/12V rails (Jetson, cameras, Cube+, LiDAR, servo, gimbal)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80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2BE-DB2A-47A7-82EF-982F19C9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Flight controller (Cube+) physical ports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CB79A-B942-4FE4-B280-4BE55FC89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&amp; telemetry: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Power-in: from PDB / power module (safe V + current sense to FC).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UART1 (TELEM1): GNSS #1 (UBX / NMEA) — TTL UART. Baud: 115200.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UART2 (TELEM2): GNSS #2 or secondary telemetry — TTL or CAN (if GNSS over CAN). Baud: 115200.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UART3 (RADIO): Telemetry radio (433/915 MHz) — TTL UART. Baud: 57600 or 115200 (match radio); modern radios can do 57600 for robust comms or higher if link supports.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UART4 (COMPANION): Companion computer (Jetson) interface — </a:t>
            </a:r>
            <a:r>
              <a:rPr lang="en-IN" sz="1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v2. Baud recommended: 921600 for high-bandwidth, low-latency. If using UDP: companion Ethernet → Cube+ via companion link is possible (</a:t>
            </a:r>
            <a:r>
              <a:rPr lang="en-IN" sz="1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over UDP).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CAN: optional for CAN GNSS or other CAN devices.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I/O: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PWM outputs: ESCs / servos (ESC signal lines via PWM / </a:t>
            </a:r>
            <a:r>
              <a:rPr lang="en-IN" sz="1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DShot</a:t>
            </a: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depending on ESC).</a:t>
            </a:r>
            <a:endParaRPr lang="en-IN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AUX ports: for gimbal trigger / camera control if integrated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16708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6D71-D9EF-4D21-9796-44074923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021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 wiring summary table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E08D95-0F01-432A-9281-AC9C6F3AE1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166791"/>
              </p:ext>
            </p:extLst>
          </p:nvPr>
        </p:nvGraphicFramePr>
        <p:xfrm>
          <a:off x="612559" y="1285336"/>
          <a:ext cx="10860577" cy="52075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4531">
                  <a:extLst>
                    <a:ext uri="{9D8B030D-6E8A-4147-A177-3AD203B41FA5}">
                      <a16:colId xmlns:a16="http://schemas.microsoft.com/office/drawing/2014/main" val="1625384057"/>
                    </a:ext>
                  </a:extLst>
                </a:gridCol>
                <a:gridCol w="1587561">
                  <a:extLst>
                    <a:ext uri="{9D8B030D-6E8A-4147-A177-3AD203B41FA5}">
                      <a16:colId xmlns:a16="http://schemas.microsoft.com/office/drawing/2014/main" val="2815603735"/>
                    </a:ext>
                  </a:extLst>
                </a:gridCol>
                <a:gridCol w="1587561">
                  <a:extLst>
                    <a:ext uri="{9D8B030D-6E8A-4147-A177-3AD203B41FA5}">
                      <a16:colId xmlns:a16="http://schemas.microsoft.com/office/drawing/2014/main" val="2710877290"/>
                    </a:ext>
                  </a:extLst>
                </a:gridCol>
                <a:gridCol w="1587561">
                  <a:extLst>
                    <a:ext uri="{9D8B030D-6E8A-4147-A177-3AD203B41FA5}">
                      <a16:colId xmlns:a16="http://schemas.microsoft.com/office/drawing/2014/main" val="3914649591"/>
                    </a:ext>
                  </a:extLst>
                </a:gridCol>
                <a:gridCol w="1587561">
                  <a:extLst>
                    <a:ext uri="{9D8B030D-6E8A-4147-A177-3AD203B41FA5}">
                      <a16:colId xmlns:a16="http://schemas.microsoft.com/office/drawing/2014/main" val="1885398852"/>
                    </a:ext>
                  </a:extLst>
                </a:gridCol>
                <a:gridCol w="2495802">
                  <a:extLst>
                    <a:ext uri="{9D8B030D-6E8A-4147-A177-3AD203B41FA5}">
                      <a16:colId xmlns:a16="http://schemas.microsoft.com/office/drawing/2014/main" val="1463457256"/>
                    </a:ext>
                  </a:extLst>
                </a:gridCol>
              </a:tblGrid>
              <a:tr h="2018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Component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Physical link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To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Protocol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Baud/ Rate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Notes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1786760583"/>
                  </a:ext>
                </a:extLst>
              </a:tr>
              <a:tr h="394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GNSS #1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TTL UART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Cube+ UART1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NMEA/UBX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115200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Primary GPS supports L1 ,L5,L2 band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3439499407"/>
                  </a:ext>
                </a:extLst>
              </a:tr>
              <a:tr h="6867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GNSS #2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TTL UART/ CAN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Cube+ UART2 / CAN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NMEA/UBX or CAN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115200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Redundant </a:t>
                      </a:r>
                      <a:endParaRPr lang="en-IN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supports L1 ,L5,L2 band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3810273657"/>
                  </a:ext>
                </a:extLst>
              </a:tr>
              <a:tr h="394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Telemetry radio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TTL UART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Cube+ UART3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MAVLink v2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57600 / 115200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To GCS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1912283613"/>
                  </a:ext>
                </a:extLst>
              </a:tr>
              <a:tr h="5868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Jetson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TTL UART/ Ethernet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Cube+ UART4 / Ethernet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MAVLink v2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921600 (serial) or UDP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Obstacle msgs / VIO pose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2954692160"/>
                  </a:ext>
                </a:extLst>
              </a:tr>
              <a:tr h="394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S2 LiDAR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USB/ TTL UART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Jetson USB/UART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LiDAR vendor serial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115200–921600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Servo angle timestamps required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4260354190"/>
                  </a:ext>
                </a:extLst>
              </a:tr>
              <a:tr h="5868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LiDAR servo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PWM (5V)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Jetson MCU / PWM controller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PWM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50 Hz control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Time-sync with LiDAR scans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1665963988"/>
                  </a:ext>
                </a:extLst>
              </a:tr>
              <a:tr h="394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Stereo pairs (×4)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CSI/ USB3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Jetson CSI lanes / USB3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MIPI CSI-2 / UVC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up to Gbps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Use grayscale to reduce bandwidth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261351294"/>
                  </a:ext>
                </a:extLst>
              </a:tr>
              <a:tr h="394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IMU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Internal to Cube+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Cube+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SPI/I²C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400–1000 Hz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FCU primary attitude source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838536646"/>
                  </a:ext>
                </a:extLst>
              </a:tr>
              <a:tr h="7793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SIYI ZR30 gimbal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UART/ Ethernet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Jetson/Cube+/GCS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Vendor protocol / MAVLink GIMBAL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115200 / Ethernet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Video: RTSP/H.264 stream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2077626115"/>
                  </a:ext>
                </a:extLst>
              </a:tr>
              <a:tr h="394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Power module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I2C / ADC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Cube+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Power telemetry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      —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Reports voltage/current to FCU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0" marR="8800" marT="8800" marB="8800" anchor="ctr"/>
                </a:tc>
                <a:extLst>
                  <a:ext uri="{0D108BD9-81ED-4DB2-BD59-A6C34878D82A}">
                    <a16:rowId xmlns:a16="http://schemas.microsoft.com/office/drawing/2014/main" val="203410880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9F96691-1ADB-4707-89BF-8ECDB01FA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117531" y="112"/>
            <a:ext cx="21169115" cy="45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91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AD65F-3224-4A99-9FA5-C2FFC460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343"/>
            <a:ext cx="10515600" cy="1121345"/>
          </a:xfrm>
        </p:spPr>
        <p:txBody>
          <a:bodyPr>
            <a:normAutofit fontScale="90000"/>
          </a:bodyPr>
          <a:lstStyle/>
          <a:p>
            <a:r>
              <a:rPr lang="en-IN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Communication protocols &amp; </a:t>
            </a:r>
            <a:br>
              <a:rPr lang="en-IN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 flows (fully detailed)</a:t>
            </a:r>
            <a:br>
              <a:rPr lang="en-IN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8C8BB-3A15-4C18-A0DE-24E4FF01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7" y="1466492"/>
            <a:ext cx="11516264" cy="5253486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N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overview (central comms)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9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v2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the canonical messaging layer between Cube+, Jetson, Telemetry Radio, and GCS. Use mission planner (Mission Planner or </a:t>
            </a:r>
            <a:r>
              <a:rPr lang="en-IN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QGroundControl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GCS.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message types used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status &amp; heartbeat (FCU/companion).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STATUSTEXT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health/warnings.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ATTITUDE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GLOBAL_POSITION_INT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LOCAL_POSITION_NED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FCU pose telemetry.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DISTANCE_SENSOR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single sensor distances (LiDAR).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OBSTACLE_DISTANCE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sectorized obstacle distances (used by FCU for local avoidance).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VISION_POSITION_ESTIMATE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VISION_SPEED_ESTIMATE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VIO or Jetson-provided pose/speed estimates.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SET_POSITION_TARGET_LOCAL_NED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SET_POSITION_TARGET_GLOBAL_INT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Jetson commanded setpoints/avoidance setpoints.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MISSION_*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for mission upload / download (from Mission Planner).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GOPRO_CONTROL*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vendor-specific messages for gimbal control if needed; otherwise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MOUNT_CONTROL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gimbal messages.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PARAM_*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parameter read/write.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Jetson publishes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OBSTACLE_DISTANCE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and, when necessary,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SET_POSITION_TARGET_LOCAL_NED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request avoidance </a:t>
            </a:r>
            <a:r>
              <a:rPr lang="en-IN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maneuvers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Cube+ publishes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ATTITUDE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LOCAL_POSITION_NED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Jetson subscribes to these for ego-state.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Cube+ applies flight laws; ensure Cube+ parameter configuration accepts companion overrides (use GUIDED mode or set the appropriate acceptance of </a:t>
            </a:r>
            <a:r>
              <a:rPr lang="en-IN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SET_POSITION_TARGET</a:t>
            </a:r>
            <a:r>
              <a:rPr lang="en-I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14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4D1F-6BEB-4A87-A137-932F1FA94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6928"/>
            <a:ext cx="10515600" cy="557266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Jetson ↔ Cube+ (Companion link)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UART4 TTL level or Ethernet. Use </a:t>
            </a: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921600 baud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high throughput if serial. For Ethernet use 1 Gbit link and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over UDP.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Messages from Jetson to Cube+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OBSTACLE_DISTANCE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(sectorized): Jetson calculates an array of distances around vehicle (e.g., 36 sectors at 10° each) and sends it at ~5–10 Hz.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DISTANCE_SENSOR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single LiDAR distance in the forward sector (higher rate).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VISION_POSITION_ESTIMATE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(if Jetson VIO more accurate than GNSS for short-term) at ~10–30 Hz.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SET_POSITION_TARGET_LOCAL_NED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direct avoidance commands or guidance velocity targets.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Messages from Cube+ to Jetson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ATTITUDE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LOCAL_POSITION_NED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 50–200 Hz (depending on FCU config). Jetson uses these for ego-motion compensation.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PARAM_VALUE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STATUSTEXT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status/diagnostics.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923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E6A9A-2EB9-4D20-8ED0-38335ECAE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698"/>
            <a:ext cx="10515600" cy="4969265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LiDAR data handling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LiDAR outputs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range readings for a 2D scan line at its internal scan rate (e.g., 10–20 Hz). Jetson reads raw range + intensity + time stamp.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Servo angle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Jetson or MCU must timestamp servo position for each scanline so transforms into vehicle frame can be done accurately. If servo angle is not timestamped, the resulting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pointcloud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will have motion distortion.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Pointcloud</a:t>
            </a: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assembly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LiDAR scanline (range array), tag with servo angle θ(t) → transform polar to local 3D points in Jetson. Combine many scanlines over servo sweep to build 3D cloud.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 to Cube+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Jetson sends </a:t>
            </a: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DISTANCE_SENSOR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critical single-beam distance (forward) and </a:t>
            </a: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OBSTACLE_DISTANCE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sector summaries (after fusing LiDAR + stereo).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933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A1DE2-7D7B-4FA4-86FD-0318CB7D4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64" y="91985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Stereo &amp; camera data handling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Camera transport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CSI/MIPI preferred for low-latency. Use hardware sync when possible (frame sync line) so stereo images from left-right are tightly time-aligned.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rate &amp; resolution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typical 640×480@30 fps for side/rear; forward pair may be 1280×720@30 fps. Use grayscale capture for stereo matching to reduce bandwidth.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Stereo computation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Jetson runs optimized stereo network 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yielding disparity maps → depth maps. Depth maps are aligned to vehicle frame using camera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extrinsics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VIO pose.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detection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YOLOv8 runs on RGB frames producing bounding boxes and class probabilities. These are projected to 3D using depth to produce 3D detections for fusion.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 to Cube+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fused obstacles are summarized in 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OBSTACLE_DISTANCE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SET_POSITION_TARGET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needed.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297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C51B-C459-4E2F-A280-D24B8A57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perception pipeline  end-to-end (algorithmic detail)</a:t>
            </a:r>
            <a:b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87ECA-9C5B-471E-9D16-CF50A1297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section explains the algorithms, data flow, training, and runtime optimizations end-to-end: LiDAR → stereo → fusion → mapping → planning.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Raw data ingestion &amp; sync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sync is critical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Use PTP / NTP for network devices and hardware timestamps for sensor devices where possible. Jetson should maintain a monotonic clock and annotate arrivals with high-resolution timestamps.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Buffers / ring buffers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create ring buffers for LiDAR scanlines, camera frames, IMU samples, and servo angles. Align using timestamps.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Ego-motion estimation (VIO / VIO+GNSS)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VIO (VINS-Fusion)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runs on stereo + IMU to produce high-rate short-term accurate pose. If GNSS is good, integrate GNSS for global drift correction.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provide pose(t) for de-warping LiDAR scans and to place stereo depth in world frame.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38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DC60-6134-4BE3-9337-D3A73F77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Samples</a:t>
            </a:r>
          </a:p>
        </p:txBody>
      </p:sp>
      <p:pic>
        <p:nvPicPr>
          <p:cNvPr id="5" name="Content Placeholder 4" descr="A computer next to a stack of books&#10;&#10;Description automatically generated">
            <a:extLst>
              <a:ext uri="{FF2B5EF4-FFF2-40B4-BE49-F238E27FC236}">
                <a16:creationId xmlns:a16="http://schemas.microsoft.com/office/drawing/2014/main" id="{255F671F-66B6-4ACB-AB29-0F1DABA16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544" y="2259734"/>
            <a:ext cx="773571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429E34-7767-43E8-842C-EC8394FC81EA}"/>
              </a:ext>
            </a:extLst>
          </p:cNvPr>
          <p:cNvSpPr txBox="1"/>
          <p:nvPr/>
        </p:nvSpPr>
        <p:spPr>
          <a:xfrm>
            <a:off x="1366982" y="1790545"/>
            <a:ext cx="229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FACING FLAT SURFACE</a:t>
            </a:r>
          </a:p>
        </p:txBody>
      </p:sp>
    </p:spTree>
    <p:extLst>
      <p:ext uri="{BB962C8B-B14F-4D97-AF65-F5344CB8AC3E}">
        <p14:creationId xmlns:p14="http://schemas.microsoft.com/office/powerpoint/2010/main" val="249058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D2DE-D9CA-4F64-91D2-47B19BF8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                                                  UNEVEN SURFACE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1118180-1570-4665-8E67-AFC2A46FF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083" y="1523701"/>
            <a:ext cx="8540498" cy="4804030"/>
          </a:xfrm>
        </p:spPr>
      </p:pic>
    </p:spTree>
    <p:extLst>
      <p:ext uri="{BB962C8B-B14F-4D97-AF65-F5344CB8AC3E}">
        <p14:creationId xmlns:p14="http://schemas.microsoft.com/office/powerpoint/2010/main" val="231966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2C266-DA37-443B-B415-8BFDA471C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54"/>
            <a:ext cx="10515600" cy="64320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LiDAR processing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filter invalid returns, apply intensity thresholding.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+ Servo unwarp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convert each 2D scanline using servo angle θ(t) and vehicle pose at timestamp t to produce 3D points.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Voxelization / </a:t>
            </a:r>
            <a:r>
              <a:rPr lang="en-IN" sz="13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downsample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for speed, use an adaptive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(voxel grid of 0.05–0.1 m depending on region).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run </a:t>
            </a:r>
            <a:r>
              <a:rPr lang="en-IN" sz="13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PointPillars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(fast):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Pillarize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pointcloud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(bird’s-eye view grid), extract pseudo-image features, run 2D conv detection.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Output: 3D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class, confidence, velocity (if CenterPoint used).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Semantic segmentation (optional)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RangeNet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 to and classify points (tower/pole/vegetation/bird).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3D detections with positions &amp; confidences, per-point labels for painting.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Stereo depth &amp; image detection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Stereo matching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StereoNet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PSMNet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-small. Produce disparity map D(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Apply </a:t>
            </a: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sub-pixel refinement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(soft-argmax or quadratic fit) to get fractional disparities reducing quantization error.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Depth map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Z(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f_px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 B / D(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Mask low-confidence disparities (matching cost thresholds).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detection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YOLOv8 returns 2D boxes + scores. Run semantic segmentation (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BiSeNet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optionally for point painting.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to 3D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Using camera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intrinsics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VIO pose, project image detections with depth into 3D coordinates in the vehicle frame.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dense depth for sectors, 3D boxes from stereo-assisted 2D detection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052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18E4-6D22-44C0-8507-13F5E9B98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740"/>
            <a:ext cx="10515600" cy="5478223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Fusion: point-painting &amp; detection consolidation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Point-painting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augment LiDAR points by projecting camera segmentation/detections into LiDAR point cloud and adding semantic labels. This helps detection networks by giving image-aware points.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 fusion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for overlapping LiDAR &amp; stereo detections, fuse using a weighted scheme: LiDAR weight increases with distance and intensity; stereo weight increases with disparity confidence; image detection weight from YOLO score.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fused obstacle list with class, 3D box, distance &amp; velocity (from tracker), and per-obstacle confidence.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579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A465-43AD-4382-9DCC-0B884DB55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279"/>
            <a:ext cx="10515600" cy="523668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 Tracking &amp; prediction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3D Kalman / Extended Kalman filter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per tracked object estimating position &amp; velocity in local frame. Use constant-velocity or constant-acceleration motion models.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association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nearest-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matching (3D CBV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with gating based on expected motion.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estimate short-term future positions (1–5 s) and compute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TTC (time-to-collision)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the drone’s current trajectory.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 Mapping: TSDF → ESDF (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Voxblox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TSDF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integrate fused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pointclouds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into a Truncated Signed Distance Field (TSDF) at voxel resolution 0.1 m (or 0.05 m in near field). This yields surface reconstructions.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ESDF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compute ESDF (distance-to-nearest-obstacle) from TSDF to provide smooth distance fields for planning. Recompute ESDF each map update in the local window (costly but optimized libs exist).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747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84C9-0A2D-414E-8D05-5CF5DA71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150"/>
            <a:ext cx="10515600" cy="613446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 Mapping: TSDF → ESDF (</a:t>
            </a:r>
            <a:r>
              <a:rPr lang="en-IN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Voxblox</a:t>
            </a: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TSDF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integrate fused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pointclouds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into a Truncated Signed Distance Field (TSDF) at voxel resolution 0.1 m (or 0.05 m in near field). This yields surface reconstructions.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ESDF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compute ESDF (distance-to-nearest-obstacle) from TSDF to provide smooth distance fields for planning. Recompute ESDF each map update in the local window (costly but optimized libs exist).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IN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Kinodynamic</a:t>
            </a: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planning (MPC) using ESDF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Planner input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current pose &amp; velocity (from VIO + FCU), target waypoint, local ESDF.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 tracking (minimize deviation from mission waypoint)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effort (minimize acceleration &amp; jerk)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collision penalty (exponential penalty for voxels where ESDF &lt; </a:t>
            </a:r>
            <a:r>
              <a:rPr lang="en-I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safety_distance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max velocity </a:t>
            </a:r>
            <a:r>
              <a:rPr lang="en-IN" sz="105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v_max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max accel </a:t>
            </a:r>
            <a:r>
              <a:rPr lang="en-IN" sz="105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a_max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jerk limits.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Solver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small-horizon MPC (1–3 s horizon) running at </a:t>
            </a: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10–30 Hz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Use ESDF gradients to push trajectory away from obstacles.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smooth velocity/position target to Jetson/Cube+; Jetson issues </a:t>
            </a: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SET_POSITION_TARGET_LOCAL_NED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SET_ATTITUDE_TARGET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depending on integration; Cube+ executes closed-loop.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52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50C5-B0A9-4657-BDDD-C8593C3A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protocols, message flows, pros &amp; cons</a:t>
            </a:r>
            <a:endParaRPr lang="en-IN" sz="72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61FE57-766D-4FDF-B4DA-1547B48CB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046919"/>
            <a:ext cx="10338786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Jetson ↔ Cube+ (Companion link)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Physical: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TTL UART (UART4) at high baud (recommended 921600), or Ethernet (UDP) if you use a companion network.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Logical: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MAVLink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Messages Jetson → Cube+: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OBSTACLE_DISTANCE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fused sectorized obstacle distances (e.g., 36 sectors). Recommended publish rate: 5–20 Hz.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DISTANCE_SENSOR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direct LiDAR front-beam values at higher rate (10–50 Hz).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VISION_POSITION_ESTIMATE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/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VISION_SPEED_ESTIMATE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VIO pose &amp; speed (10–30 Hz) when Jetson VIO is better than GNSS short-term.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SET_POSITION_TARGET_LOCAL_NED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avoidance setpoints or immediate velocity targets (on-demand, event-driven).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Messages Cube+ → Jetson: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ATTITUDE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(50–200 Hz) — FCU attitude for sensor compensation.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LOCAL_POSITION_NED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(20–50 Hz) — local pose.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STATUSTEXT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PARAM_VALUE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status &amp; configuration.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734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D00512B-B8BB-4FF6-87FB-AE4F436971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1885" y="1108849"/>
            <a:ext cx="1092822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Advantages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Low-latency control path for immediate avoidance commands (921600 serial is fast).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Well-supported ecosystem (Mission Planner / QGC) integrates readily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MAVLink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Clear message types for obstacle reporting and setpoints.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Disadvantages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UART at 921600 can be affected by EMI and long cable runs — keep cable short and shielded; use twisted pair and ferrites.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Companion overrides must be carefully gated in Cube+ parameterization to avoid unsafe commands from buggy Jetson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If using UDP/Ethernet, you gain bandwidth but add complexity (network stack, IP addressing, NAT with GCS if remote).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Operational notes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 parity/error checking and consider a small watchdog on Cube+ that rejects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SET_POSITION_TARGET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commands that violate safe limits (max speed/altitude).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Keep a heartbeat policy: if Jetson heartbeat not seen, Cube+ should disable companion overrides and revert to RTH / mission.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002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757C4-9F45-4E02-BC50-0C8D0ABDB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56" y="497156"/>
            <a:ext cx="10515600" cy="60761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Cube+ ↔ GCS (Telemetry radio)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Physical: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Radio module on Cube+ UART3 → GCS (3 km or more link as spec).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Logical: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v2.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Messages &amp; flows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Full vehicle telemetry (heartbeat, attitude, position, battery, mission).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Operator receives obstacle alerts relayed 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statustext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custom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messages).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Mission upload/download (waypoints, geofence).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Operator can command SIYI gimbal if linked through Jetson/Cube+.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Standard, proven link for remote control.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GCS tools (Mission Planner / QGC) parse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provide operator UI.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Telemetry radios have limited bandwidth — avoid high-bitrate streaming over the same link (do not send raw video).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Outdoor range and reliability affected by terrain and EMI from HV lines; plan for intermittent dropouts.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Operational notes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 only metadata/alerts over telemetry. For video, use separate high-bandwidth link (Wi-Fi/4G/5G/RTSP over cellular) or low-res thumbnail over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Auto-RTH on long telemetry dropout should be configured conservatively with operator overrides.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361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540B-B8CC-4503-9388-8C95C9AA5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13"/>
            <a:ext cx="10515600" cy="6323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Jetson ←→ LiDAR (S2) &amp; Servo control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Physical: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LiDAR → Jetson via USB or TTL serial; servo angle feedback via PWM/encoder to Jetson or MCU.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LiDAR → Jetson: raw range array + timestamp + intensity.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Jetson → servo MCU: PWM commands for angle control (or target angle via serial) and request for angle timestamps (or read encoder).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LiDAR gives precise range returns (cm-level) and works at night.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Servo + LiDAR arrangement provides 3D by scanning.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Servo moves 90 - 120 degrees in 2 secs for 3D mapping.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LiDAR + servo 3D update rate depends on servo rotation speed — may be slow for high-speed flight if not planned.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LiDAR sensitive to atmospheric scatter (rain/fog/dust) and reflective surfaces.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Operational notes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Timestamp LiDAR scanlines and servo angle with microsecond precision. Use a hardware PWM driver or MCU with encoder for reliable angular feedback — do not rely on open-loop servo commands only.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 mechanical slip-ring or cable routing for continuous 360° rotation if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73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7A5F5-A4B7-46A6-8176-A91BE2E49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332"/>
            <a:ext cx="10515600" cy="567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 Jetson ←→ Stereo Cameras (IMX219 pairs)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Physical: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CSI/MIPI preferred; if insufficient CSI lanes use USB3 UVC cameras.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Camera streams → Jetson: frames (grayscale preferred for stereo), per-frame timestamps.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Jetson runs stereo inference and publishes depth maps and 3D detections to fusion node.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Stereo provides dense depth map in textured scenes and is cheap/low-power.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for classification (bird vs pole) via image detectors.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Passive sensor — fails in low light, glare, and low-texture surfaces.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 bandwidth — manage resolution/FPS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tradeoffs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Sensitive to motion blur at high speed; use higher shutter speed and more light.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Operational notes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hardware frame sync (if camera modules support) to ensure left-right frames are coherent.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Prefer grayscale stereo at real-time; reserve RGB at lower rates for detection/classification.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324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6CCF8-81ED-4CA5-8158-4FC2EFF0F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5826"/>
            <a:ext cx="10515600" cy="5711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 SIYI ZR30 Gimbal → GCS / Jetson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Physical: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Gimbal controller ↔ Jetson (UART/Ethernet) and/or direct stream to GCS via RTSP.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Gimbal telemetry &amp; control via vendor protocol or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GIMBAL messages.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Video streamed via RTSP/H.264 to operator for inspection.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High-quality optical zoom for inspection (20×); good for detailed visual inspection when hovering.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Operator-driven — reduces demand on autonomy for inspection tasks.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Narrow FOV at high zoom; image stabilization needed.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Mechanical complexity: moving parts risk in dust/wet environments.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Operational notes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gimbal-safe interlocks (do not allow large gimbal motions during aggressive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maneuvers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 video separately from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(use Jetson as transcode/RTSP server if needed).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900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6F0F-C7C7-409D-9ABB-FF951F11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Latency, rates &amp; timing budgets (practical targets)</a:t>
            </a:r>
            <a:b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F44D2-A429-4D7D-ADD8-A206C4B93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Aim to keep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end-to-end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perception-to-command latency ≤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Lower is better.</a:t>
            </a:r>
          </a:p>
          <a:p>
            <a:pPr marL="0" indent="0"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Example budget (target)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Camera capture &amp; transfer to Jetson: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10–20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(CSI).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Stereo depth inference (per prioritized pair):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20–50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TensorRT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FP16).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 detection (YOLOv8 tiny) per frame: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10–30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LiDAR read + servo timestamp: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10–30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per scanline; assembly of partial cloud: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20–50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depending on sweep.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Fusion &amp; mapping update (TSDF/ESDF incremental):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20–40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(optimized).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Tracking &amp; prediction: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&lt;10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MPC planning &amp; setpoint generation: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10–30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transfer to Cube+: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&lt;10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(serial at 921600).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Cube+ actuation + control loop response: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~50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(to start applying control).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Total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~ 160–270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depending on concurrency. Profile and reduce by parallelism and CPU/GPU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567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F770FDF-1031-4B8E-B5A3-D2B364E6E9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551" y="1824103"/>
            <a:ext cx="985855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 Message rates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ATTITUDE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 50–100 Hz from Cube+.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LOCAL_POSITION_NED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 20–50 Hz.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OBSTACLE_DISTANCE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 5–20 Hz (more frequent if obstacle density high).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DISTANCE_SENSOR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 10–50 Hz for direct LiDAR front beam.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Jetson internal processing loops: perception @ 10–30 Hz (full fused updates), stereo forward pair faster @ 30 fps if possible for forward reaction.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353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E44E-D108-4A4F-9B1F-37D0F05E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Calibration &amp; alignment (must-have steps)</a:t>
            </a:r>
            <a:br>
              <a:rPr lang="en-IN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CEFA3-E9AB-454E-81F3-BD6DEB219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 lnSpcReduction="10000"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Intrinsic camera calibration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for each IMX219 camera: focal length, principal point, distortion coefficients. Use checkerboard or chessboard calibration. Save YAML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intrinsics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Stereo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extrinsics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left-right transform (R, t) per stereo pair. Use stereo calibration tools (OpenCV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stereoCalibrate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and refine with bundle-adjusted sequences.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Camera ↔ LiDAR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extrinsics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rigid transform between LiDAR and one camera frame. Use calibration rigs or automatic calibration (e.g., by detecting same features in both modalities). Record and verify.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LiDAR servo mapping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verify servo angle to physical transform mapping: angle → rotation axis calibration to ensure accurate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pointcloud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alignment.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IMU ↔ camera / IMU ↔ LiDAR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calibrate time offset and transform. IMU offset critical for VIO accuracy.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GNSS → local frame alignment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verify offsets and correct NED/ENU conventions.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Jetson ↔ Cube+ time sync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configure time sync (NTP/PTP) or use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timestamps conversion.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Motor &amp; ESC calibration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calibrate throttle endpoints, failsafe throttle.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Gimbal calibration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ensure SIYI zero positions, zoom limits, and RTSP stream validated.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677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0A0C-EC5F-4E7E-B753-F2C75572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8618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Safety, failsafe, and degradation modes</a:t>
            </a:r>
            <a:b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D5ACD1-9949-42F4-B582-FE2FCFCBF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880" y="1306648"/>
            <a:ext cx="1094692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 Mandatory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failsafes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Dual GNSS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automatic switchover. If both GNSS degrade, Jetson triggers VIO-only navigation within limited area and reduces speed.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Companion failure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if Jetson fails/unavailable, Cube+ uses preplanned contingency: reduce speed, enter fail-safe loiter, and perform RTH if necessary.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Telemetry loss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auto RTH and safe loiter in case of long telemetry blackout.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Low battery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Cube+ to enforce RTL when battery below threshold with return margin.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Obstacle detection overrides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Jetson-issued avoidance has high priority but Cube+ should have a safety veto (e.g. prevents Jetson from issuing commands that violate hard constraints like exceed motor limits). Use parameter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COM_OBL_ACT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style mapping.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 Graceful degradation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Night/Low light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Jetson detects low stereo confidence and increases weighting of LiDAR; automatically reduces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v_max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Heavy rain/fog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LiDAR returns confidence drop — increase safety buffer and force slow speed / land if necessary.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High EMI near power lines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GNSS may degrade — rely on VIO and ensure operator notified via GCS.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051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32B5-5D6B-4685-A25A-E54DFFC9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36" y="563533"/>
            <a:ext cx="10515600" cy="549275"/>
          </a:xfrm>
        </p:spPr>
        <p:txBody>
          <a:bodyPr>
            <a:noAutofit/>
          </a:bodyPr>
          <a:lstStyle/>
          <a:p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Numeric worked examples (three commonly used angular resolutions)</a:t>
            </a:r>
            <a:b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7C83-C917-4290-89EB-B77E1E379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7146"/>
            <a:ext cx="10515600" cy="571068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7000"/>
              </a:lnSpc>
              <a:spcBef>
                <a:spcPts val="200"/>
              </a:spcBef>
              <a:buNone/>
            </a:pP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S = 360 samples/scan; F = 15 Hz</a:t>
            </a:r>
            <a:endParaRPr lang="en-IN" sz="1800" b="1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360 × 15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5,400 pts/s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B/s = 5,400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86,400 B/s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0.0864 MB/s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(≈ 0.69 Mb/s)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 in T=3 s → 5,400 × 3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16,200 pts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to store those points = 16,200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259,200 B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0.259 MB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 in T=5 s → 5,400 × 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27,000 pts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→ memory = 27,000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432,000 B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0.432 MB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points_per_tick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R_map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=10 Hz → 5,400 / 10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540 pts/tick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points_per_tick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R_map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=15 Hz → 5,400 / 15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360 pts/tick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200"/>
              </a:spcBef>
              <a:buNone/>
            </a:pPr>
            <a:r>
              <a:rPr lang="en-IN" sz="1800" b="1" dirty="0">
                <a:solidFill>
                  <a:srgbClr val="1F376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S = 720 samples/scan; F = 15 Hz (typical mid-density)</a:t>
            </a:r>
            <a:endParaRPr lang="en-IN" sz="1800" b="1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720 × 15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10,800 pts/s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B/s = 10,800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172,800 B/s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0.1728 MB/s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(≈ 1.38 Mb/s)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 in T=3 s → 10,800 × 3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32,400 pts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→ memory = 32,400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518,400 B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0.518 MB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 in T=5 s → 10,800 × 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54,000 pts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→ memory = 54,000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864,000 B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0.864 MB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points_per_tick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at 10 Hz → 10,800 / 10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1,080 pts/tick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points_per_tick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at 15 Hz → 10,800 / 15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720 pts/tick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200"/>
              </a:spcBef>
              <a:buNone/>
            </a:pPr>
            <a:r>
              <a:rPr lang="en-IN" sz="1800" b="1" dirty="0">
                <a:solidFill>
                  <a:srgbClr val="1F376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S = 1440 samples/scan; F = 15 Hz (high-density)</a:t>
            </a:r>
            <a:endParaRPr lang="en-IN" sz="1800" b="1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1440 × 15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21,600 pts/s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B/s = 21,600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345,600 B/s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0.3456 MB/s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(≈ 2.76 Mb/s)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 in T=3 s → 21,600 × 3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64,800 pts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→ memory = 64,800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1,036,800 B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1.037 MB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 in T=5 s → 21,600 × 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108,000 pts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→ memory = 108,000 × 16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1,728,000 B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1.728 MB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points_per_tick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at 10 Hz → 21,600 / 10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2,160 pts/tick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points_per_tick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at 15 Hz → 21,600 / 15 =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1,440 pts/tick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699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B11E-9D30-4AF6-A728-2594EB2E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Voxel (TSDF) mapping: How many voxels get created/updated?</a:t>
            </a:r>
            <a:b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05184E-7815-49F5-B060-750949B53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348"/>
            <a:ext cx="10515600" cy="5503652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 estimate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unique voxels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in the T-second map snapshot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 updates/sec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the mapping must perform.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unique_voxels_in_T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≈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points_in_T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×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f_uniq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voxel_memory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≈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unique_voxels_in_T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×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bytes_per_voxel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(assume 16 B/voxel)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voxel_updates_per_second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≈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× k, where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is the average number of voxels a single point updates (depends on TSDF truncation radius). Conservative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k ≈ 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(voxel neighborhood touched per integrated ray); pick 8 as baseline.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Using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f_uniq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= 0.6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and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k = 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(conservative for 2D-lidar-derived clouds):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 (S = 720, F = 15)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mid-density (most realistic)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points_in_3s = 32,400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unique_voxels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≈ 32,400 × 0.6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19,440 voxels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 memory ≈ 19,440 × 16 B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311,040 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≈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0.311 MB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points_in_5s = 54,000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unique_voxels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≈ 54,000 × 0.6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32,400 voxels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 memory ≈ 32,400 × 16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518,400 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≈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0.518 MB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voxel_updates_per_second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≈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× k = 10,800 × 8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86,400 writes/sec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voxel_updates_per_tick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R_map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10 Hz) = 86,400 / 10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8,640 writes/tick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(At 15 Hz → 86,400 / 15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5,760 writes/tick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 (S = 360, F = 15)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points_in_3s = 16,200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unique_voxels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≈ 9,720 → mem ≈ 155,520 B (0.156 MB)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voxel_updates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/sec ≈ 5,400 × 8 = 43,200 → per tick @10Hz = 4,320 writes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 (S = 1440, F = 15)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points_in_3s = 64,800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unique_voxels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≈ 38,880 → mem ≈ 622,080 B (0.622 MB)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voxel_updates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/sec ≈ 21,600 × 8 = 172,800 writes/sec → per tick @10Hz = 17,280 writes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1420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99B5-155D-4106-8682-A44F6C0B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Practical recommendations &amp; knobs you should tune now</a:t>
            </a:r>
            <a:b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B4089D-F95D-4696-BB97-10080CB39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189" y="1873664"/>
            <a:ext cx="885789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 sparse hashed TSDF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Voxblox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— minimal memory &amp; very fast for LiDAR-only mapping.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Keep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R_map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10–15 Hz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as you specified; for S=720 &amp; F=15 each tick processes only a few thousand voxel writes — feasible.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 encoder/servo timestamps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to correctly place points in world frame before insertion. Even though points/sec is modest, timestamp accuracy matters for moving drone.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Cap TSDF truncation radius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to limit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(voxels updated per point) — smaller truncation reduces writes. For v=0.1 m, use truncation 0.2–0.3 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Limit ESDF recompute radius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to local band (e.g., 10–15 m) rather than global recompute each tick.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 only TSDF snapshots or small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pointcloud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extracts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for offline debugging — raw LiDAR logs are tiny but full-rate continuous logging is usually unnecessary.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Profile early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measure your actual S and F and use these numbers to size exact CPU/GPU kernels. The theoretical numbers above are small; optimizations will make it smooth.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039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D1D2-5CDB-48D4-B866-6C3E6774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FAFB4-7D51-45B2-B7C5-9BC93D91B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8BDF981-43D9-4562-A71F-F8B1618FF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93" y="1903263"/>
            <a:ext cx="57613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94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2CAE-F201-4C1E-9D78-E3BA4C80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A6B483-115D-45D8-A346-D475F5453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6" y="-1"/>
            <a:ext cx="12149232" cy="6858001"/>
          </a:xfrm>
        </p:spPr>
      </p:pic>
    </p:spTree>
    <p:extLst>
      <p:ext uri="{BB962C8B-B14F-4D97-AF65-F5344CB8AC3E}">
        <p14:creationId xmlns:p14="http://schemas.microsoft.com/office/powerpoint/2010/main" val="2680001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6D20-FC4F-401F-A973-BDEDC64C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46E11-746B-435D-AB0C-21EC8C0E0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9B10AA8-04F4-420C-B119-08F5DEBA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8" y="-1"/>
            <a:ext cx="12149232" cy="68580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6BEDC7B-956C-47A4-8C8E-228B46E6A09B}"/>
                  </a:ext>
                </a:extLst>
              </p14:cNvPr>
              <p14:cNvContentPartPr/>
              <p14:nvPr/>
            </p14:nvContentPartPr>
            <p14:xfrm>
              <a:off x="8083440" y="946080"/>
              <a:ext cx="1467360" cy="991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6BEDC7B-956C-47A4-8C8E-228B46E6A0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74080" y="936720"/>
                <a:ext cx="1486080" cy="10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84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5BD841-6023-4540-9101-9EC0C3FD5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691" y="448006"/>
            <a:ext cx="8719128" cy="5961987"/>
          </a:xfrm>
        </p:spPr>
      </p:pic>
    </p:spTree>
    <p:extLst>
      <p:ext uri="{BB962C8B-B14F-4D97-AF65-F5344CB8AC3E}">
        <p14:creationId xmlns:p14="http://schemas.microsoft.com/office/powerpoint/2010/main" val="1949276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65C0F-E616-44BC-BDD4-29149C34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4B4CC-B08D-4CB1-BFF3-63CA3379E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0204" y="278861"/>
            <a:ext cx="10493596" cy="6484248"/>
          </a:xfrm>
        </p:spPr>
      </p:pic>
    </p:spTree>
    <p:extLst>
      <p:ext uri="{BB962C8B-B14F-4D97-AF65-F5344CB8AC3E}">
        <p14:creationId xmlns:p14="http://schemas.microsoft.com/office/powerpoint/2010/main" val="515413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EF73-7F3F-45D9-9B3A-1F76FA47A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360 Degrees Collision Avoidance Perception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7C493-F594-4856-9DF7-197396A26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358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spcAft>
                <a:spcPts val="800"/>
              </a:spcAft>
              <a:buNone/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Long-Range 360° LiDAR (Primary Obstacle Detection)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Specs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Type: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360° 2D scanning LiDAR (e.g., RPLIDAR A3, </a:t>
            </a:r>
            <a:r>
              <a:rPr lang="en-IN" sz="4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Leishen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M10, RPLIDAR S2L).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Range: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0.15–25 m (effective 10 m used for collision bubble).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Rate: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10–15 Hz scan refresh.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Samples per scan: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720–1440 points.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rate: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2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Assume 10,800 points/s × 16 B (</a:t>
            </a:r>
            <a:r>
              <a:rPr lang="en-IN" sz="4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x,y,z,intensity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float32) ≈ </a:t>
            </a: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0.17 MB/s (~1.4 Mbps)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Protocol : Power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RPLIDAR A3: </a:t>
            </a: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~2 W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(5 V, 400 mA).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Leishen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M10: </a:t>
            </a: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3–5 W</a:t>
            </a: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depending on model.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RPLIDAR S2L: ~3W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598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5A40F-312A-4024-94F1-10FCFF783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9947"/>
            <a:ext cx="10515600" cy="5737016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Connected directly to Cube+ (via UART) or Jetson → sends </a:t>
            </a:r>
            <a:r>
              <a:rPr lang="en-IN" sz="5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OBSTACLE_DISTANCE</a:t>
            </a: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5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messages</a:t>
            </a: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AI needed</a:t>
            </a: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simple geometric thresholding.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&amp; reliable long-range sensing (10 m bubble).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 compute load.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in real-time with </a:t>
            </a:r>
            <a:r>
              <a:rPr lang="en-IN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/QGC.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Struggles with </a:t>
            </a: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 wires</a:t>
            </a: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transparent obstacles.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provides </a:t>
            </a: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2D slice</a:t>
            </a: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 height info).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Sunlight/rain/fog can reduce range.</a:t>
            </a:r>
            <a:endParaRPr lang="en-IN" sz="5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20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694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7FDE-79DA-4921-B775-86854460B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819"/>
            <a:ext cx="10515600" cy="5193102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Stereo Cameras ×4 (Short-Range Redundancy)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Specs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IMX219 stereo (per side).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Forward: 1280×720 @ 30 FPS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Sides: 640×480 @ 30 FPS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Depth Accuracy: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~±2 cm within 5–8 m.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Bitrate (raw):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Forward cam: 1280×720×30 FPS ≈ 22 MB/s ≈ 176 Mbps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Side cam: 640×480×30 FPS ≈ 9 MB/s ≈ 72 Mbps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cams ≈ </a:t>
            </a: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~392 Mbps raw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(processed locally on Jetson).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463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2CF9B-5DCE-41DA-B1A9-219F7C67C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96" y="129397"/>
            <a:ext cx="10879347" cy="6012612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CSI (MIPI) or USB3.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Processing on Jetson → compresses to depth map.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stereo cam ≈ </a:t>
            </a: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2–3 W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total ≈ </a:t>
            </a: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8–12 W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Processing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Jetson runs a lightweight model (YOLO-tiny, </a:t>
            </a:r>
            <a:r>
              <a:rPr lang="en-IN" sz="4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-SSD, or line detection CNN).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detected obstacles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(wires, poles, people) → send avoidance setpoints to Cube+.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 wires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LiDAR misses.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 360° redundancy.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flexibility for object classification.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en-IN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bandwidth → must process locally.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Sensitive to </a:t>
            </a:r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lighting (night/day, glare)</a:t>
            </a: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Power-hungry compared to LiDAR.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497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34D2-82A5-473F-9848-6CF5DB21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 Links Summary</a:t>
            </a:r>
            <a:b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B8FFCE-A25B-476A-87C7-9532A42DB1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62350"/>
              </p:ext>
            </p:extLst>
          </p:nvPr>
        </p:nvGraphicFramePr>
        <p:xfrm>
          <a:off x="665672" y="1856511"/>
          <a:ext cx="10515600" cy="24221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462448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860071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679886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35497468"/>
                    </a:ext>
                  </a:extLst>
                </a:gridCol>
              </a:tblGrid>
              <a:tr h="3460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Link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Protocol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Data Rate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10488352"/>
                  </a:ext>
                </a:extLst>
              </a:tr>
              <a:tr h="346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LiDAR → Cube+/Jetson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UART/USB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~1.4 Mbps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Obstacle distances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49668595"/>
                  </a:ext>
                </a:extLst>
              </a:tr>
              <a:tr h="346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Stereo → Jetson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CSI/USB3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~392 Mbps raw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Depth maps + AI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46299898"/>
                  </a:ext>
                </a:extLst>
              </a:tr>
              <a:tr h="346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Jetson → Cube+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MAVLink v2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&lt;100 kbps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Avoidance setpoints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7039496"/>
                  </a:ext>
                </a:extLst>
              </a:tr>
              <a:tr h="346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Jetson → GCS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RTSP/WebRTC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5–8 Mbps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Inspection video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7706600"/>
                  </a:ext>
                </a:extLst>
              </a:tr>
              <a:tr h="346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Gimbal → Jetson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RTSP/UART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5–8 Mbps + 115 kbps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Video + PTZ control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9040740"/>
                  </a:ext>
                </a:extLst>
              </a:tr>
              <a:tr h="346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Telemetry → GCS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MAVLink v2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57–115 kbps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Flight control/telemetry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4033891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309755A-391D-4C5C-9911-F5C69DC33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2528" y="-142335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549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39D9-0BC2-49A4-8BD8-A119CE77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Consumption Summary</a:t>
            </a:r>
            <a:br>
              <a:rPr lang="en-IN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60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01CD08-5162-4346-83E6-3357DB92C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989475"/>
              </p:ext>
            </p:extLst>
          </p:nvPr>
        </p:nvGraphicFramePr>
        <p:xfrm>
          <a:off x="1440612" y="1604513"/>
          <a:ext cx="8215135" cy="43137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07441">
                  <a:extLst>
                    <a:ext uri="{9D8B030D-6E8A-4147-A177-3AD203B41FA5}">
                      <a16:colId xmlns:a16="http://schemas.microsoft.com/office/drawing/2014/main" val="779587246"/>
                    </a:ext>
                  </a:extLst>
                </a:gridCol>
                <a:gridCol w="4307694">
                  <a:extLst>
                    <a:ext uri="{9D8B030D-6E8A-4147-A177-3AD203B41FA5}">
                      <a16:colId xmlns:a16="http://schemas.microsoft.com/office/drawing/2014/main" val="1658304690"/>
                    </a:ext>
                  </a:extLst>
                </a:gridCol>
              </a:tblGrid>
              <a:tr h="4815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Power (W)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extLst>
                  <a:ext uri="{0D108BD9-81ED-4DB2-BD59-A6C34878D82A}">
                    <a16:rowId xmlns:a16="http://schemas.microsoft.com/office/drawing/2014/main" val="755892436"/>
                  </a:ext>
                </a:extLst>
              </a:tr>
              <a:tr h="2685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LiDAR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effectLst/>
                        </a:rPr>
                        <a:t>2–5 W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extLst>
                  <a:ext uri="{0D108BD9-81ED-4DB2-BD59-A6C34878D82A}">
                    <a16:rowId xmlns:a16="http://schemas.microsoft.com/office/drawing/2014/main" val="3486045528"/>
                  </a:ext>
                </a:extLst>
              </a:tr>
              <a:tr h="7478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Stereo cams (×4)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effectLst/>
                        </a:rPr>
                        <a:t>8–12 W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extLst>
                  <a:ext uri="{0D108BD9-81ED-4DB2-BD59-A6C34878D82A}">
                    <a16:rowId xmlns:a16="http://schemas.microsoft.com/office/drawing/2014/main" val="3098138418"/>
                  </a:ext>
                </a:extLst>
              </a:tr>
              <a:tr h="8543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Gimbal (SIYI ZR30)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effectLst/>
                        </a:rPr>
                        <a:t>15–25 W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extLst>
                  <a:ext uri="{0D108BD9-81ED-4DB2-BD59-A6C34878D82A}">
                    <a16:rowId xmlns:a16="http://schemas.microsoft.com/office/drawing/2014/main" val="4293959779"/>
                  </a:ext>
                </a:extLst>
              </a:tr>
              <a:tr h="4815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effectLst/>
                        </a:rPr>
                        <a:t>Jetson Orin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20–40 W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extLst>
                  <a:ext uri="{0D108BD9-81ED-4DB2-BD59-A6C34878D82A}">
                    <a16:rowId xmlns:a16="http://schemas.microsoft.com/office/drawing/2014/main" val="2436355119"/>
                  </a:ext>
                </a:extLst>
              </a:tr>
              <a:tr h="428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effectLst/>
                        </a:rPr>
                        <a:t>Cube+ FCU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3–5 W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extLst>
                  <a:ext uri="{0D108BD9-81ED-4DB2-BD59-A6C34878D82A}">
                    <a16:rowId xmlns:a16="http://schemas.microsoft.com/office/drawing/2014/main" val="617171053"/>
                  </a:ext>
                </a:extLst>
              </a:tr>
              <a:tr h="7478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effectLst/>
                        </a:rPr>
                        <a:t>Telemetry Radio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3–5 W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extLst>
                  <a:ext uri="{0D108BD9-81ED-4DB2-BD59-A6C34878D82A}">
                    <a16:rowId xmlns:a16="http://schemas.microsoft.com/office/drawing/2014/main" val="2639310794"/>
                  </a:ext>
                </a:extLst>
              </a:tr>
              <a:tr h="2685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effectLst/>
                        </a:rPr>
                        <a:t>Total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effectLst/>
                        </a:rPr>
                        <a:t>~55–90 W (electronics only, not motors)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9" marR="2809" marT="2809" marB="2809" anchor="ctr"/>
                </a:tc>
                <a:extLst>
                  <a:ext uri="{0D108BD9-81ED-4DB2-BD59-A6C34878D82A}">
                    <a16:rowId xmlns:a16="http://schemas.microsoft.com/office/drawing/2014/main" val="2528907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3171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C8B4-542A-4B52-96FD-EBE41B4F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 vs Disadvantages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1171-2632-42DE-A12A-D434C67CC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106"/>
            <a:ext cx="10515600" cy="4770857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LiDAR bubble (10 m)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simple, reliable, no AI required.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Stereo cameras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redundancy, catch wires &amp; small obstacles.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Gimbal camera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provides </a:t>
            </a: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inspection video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independent of nav sensors.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Mission Planner/QGC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robust GCS integration, minimal custom code.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Cube+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proven, industrial-grade flight control.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Stereo cameras add </a:t>
            </a: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bandwidth + power load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Jetson increases </a:t>
            </a:r>
            <a:r>
              <a:rPr lang="en-IN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use and reduces flight time</a:t>
            </a: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LiDAR limited in bad weather (fog, heavy rain, bright sunlight).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Complexity (multiple sensors, multiple links).</a:t>
            </a:r>
            <a:endParaRPr lang="en-IN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230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DCDA5-1A65-491D-B391-83DCBDCD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Practical Flight Time Estimate</a:t>
            </a:r>
            <a:b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82460-22E8-4EA7-B51B-0C9C46D73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Practical Flight Time Estimate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Assume a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hexacopter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7–8 kg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(your drone) with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6S battery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Hover power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400–500 W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electronics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70 W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≈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~470–570 W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Battery life estimates (6S ~22.2 V):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5,000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(111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~12 min.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10,000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(222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~22–24 min.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15,000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(333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~33–36 min.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20,000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(444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~45–50 min.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889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F89BC-3596-4675-8714-2070954C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summary: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LiDAR (360°)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gives you a reliable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m safety bubble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minimal compute.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Stereo cameras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add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close-range 360° AI redundancy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(catch wires/lines).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Gimbal camera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dedicated for inspection (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stream+record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Mission Planner/QGC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Cube+ handles navigation and failsafe.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simplicity of LiDAR vs. stereo redundancy vs. power draw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790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6867-85F3-48E3-99E6-B3B94D85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SPOT LANDING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1FC12-B54D-4ADF-8A36-071D5567C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Mount CS20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facing straight down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(optical axis aligned with vehicle Z). If it is offset, record the offset &amp; set </a:t>
            </a: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PLND_ORIENT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(mount orientation) later. CS20 is typically a USB/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ToF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camera — connect it to your companion computer (e.g. Raspberry Pi) over USB.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Companion computer (Pi/Jetson) runs code to: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 CS20 depth frames → location of a safe landing target 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relative to camera + distance z), and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publish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LANDING_TARGET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(and optionally </a:t>
            </a: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DISTANCE_SENSOR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to the autopilot.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uses the </a:t>
            </a: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LANDING_TARGET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message for precision landing.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Flight controller (Pixhawk) connected to companion via TELEM port or USB. Mission Planner will show messages in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inspector when streaming correctly.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199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B093-9724-4D7C-8956-2A170DC5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kern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r>
              <a:rPr lang="en-IN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Mission Planner parameters to set</a:t>
            </a:r>
            <a:b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0C084-B672-44B4-BE24-9024CA9D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 these (Mission Planner → Full Parameter List). After changing parameters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reboot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FCU.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PLND_ENABLED = 1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(enable Precision Landing).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PLND_TYPE = 1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(use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LANDING_TARGET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companion computer).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PLND_SRCH_ALT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search altitude (m) to climb to if target lost (start with 6–10 m).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PLND_ALT_MAX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max altitude to use precision landing (final stage).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PLND_STRICT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0 (fallback to normal land if target lost) or 1 (abort /strict). Start with 0.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PLND_ORIENT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set if camera is not mounted with x-forward, y-right.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RNGFND_TYPE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RNGFND_SCALING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RNGFND_MIN_CM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RNGFND_MAX_CM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if you provide 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DISTANCE_SENSOR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messages from CS20, configure rangefinder settings or let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auto-detect. Downward rangefinder data improves altitude control during final descent.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(Exact param names above are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parameter names; check Mission Planner parameter reference before flight.)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114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5F35-1D59-49A7-BE4E-9509A4E1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the companion computer must send</a:t>
            </a:r>
            <a:endParaRPr lang="en-IN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BCCA2-8F65-41F9-BD9A-F1D371515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LANDING_TARGET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contains either: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angular offsets (</a:t>
            </a:r>
            <a:r>
              <a:rPr lang="en-IN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angle_x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angle_y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distance OR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absolute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MAV_FRAME_LOCAL_NED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position_valid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=1).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supports both; sending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local frame is best if you can compute it. Send at 10–50 Hz.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DISTANCE_SENSOR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publish the measured height above ground from CS20 as a rangefinder input (helps FCU altitude). Send at ~10–20 Hz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Important: during final approach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ArduPilot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will accept external target corrections (precision loiter/landing). If target is lost it will either continue normal landing or abort depending on </a:t>
            </a: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PLND_STRICT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5063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2EFC4-2AFC-4B01-A941-7E662C3B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Minimal Python (companion computer</a:t>
            </a:r>
            <a:r>
              <a:rPr lang="en-IN" sz="1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AC5672-01DE-4394-ADDE-26FD0D0D9D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091468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PyMAVLink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It includes: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connecting to FCU (UDP or serial),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placeholder code to read CS20 depth frames (I mark the place to call your CS20 SDK/ROS node),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algorithm: pick the largest flat/clear circle near center as "safe spot", compute angle offsets and distance, and send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LANDING_TARGET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DISTANCE_SENSOR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Notes before running: install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pymavlink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opencv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the CS20 SDK / ROS driver you use. Adjust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FCU_CONNECTION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your link (e.g.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/dev/ttyAMA0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udp:127.0.0.1:14550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or serial). This script is intentionally straightforward so you can adapt the detection step to your preferred depth-processing method (ROS, OpenCV,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pointcloud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libs).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How it works (summary):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find_safe_spot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is minimal: replace with a plane fit + obstacle detection (RANSAC plane, normal variance, slope threshold) for production. If you can detect flat area and no obstacles within the rotor downwash radius, that's a good safe spot.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Convert pixel offsets →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angle_x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angle_y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or compute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absolute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x,y,z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in local NED (more precise if you can).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ArduPilot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accepts both when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PLND_TYPE=1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57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FDDD-AD53-4A94-A9BD-2690B4842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tips, safety &amp; testing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AE4053-0589-40FA-ABB5-31730497F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1936" y="1690688"/>
            <a:ext cx="9371120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Simulate 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use SITL and simulate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LANDING_TARGET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messages before trying on real vehicle.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ArduPilot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docs explain precision landing workflows.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Start high PLND_SRCH_ALT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 vehicle can search for target on approach if it isn’t seen. Test PLND_STRICT=0 initially (fallback to normal land).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send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LANDING_TARGET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at ≥ 5–10 Hz; 10–50 Hz recommended for smooth corrections.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Rangefinder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sending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DISTANCE_SENSOR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helps the autopilot use the camera height as a reliable altitude source for final descent (especially if barometer/GPS noisy).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Yaw alignment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if you want a particular yaw on touchdown, compute and send yaw through the landing target quaternion fields (advanced) or align yaw before entering Land mode. Some FC firmware variations handle yaw differently — test on bench.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Prop downwash &amp; turbulence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final few meters are sensitive — ensure landing zone has enough clearance and that your large-rotor turbulence won’t move the vehicle off the pad. Consider using a bigger landing pad or net if turbulence is an issue.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Logging &amp;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MAVLink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inspector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view received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LANDING_TARGET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in Mission Planner’s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MAVLink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Inspector to confirm the FCU sees your messages.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29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52494B545F804194EFB64F46E46357" ma:contentTypeVersion="4" ma:contentTypeDescription="Create a new document." ma:contentTypeScope="" ma:versionID="69e78fa39ea11c6d1ee3ff46d5739ca0">
  <xsd:schema xmlns:xsd="http://www.w3.org/2001/XMLSchema" xmlns:xs="http://www.w3.org/2001/XMLSchema" xmlns:p="http://schemas.microsoft.com/office/2006/metadata/properties" xmlns:ns3="090871ee-5a17-4fd4-a3e4-a933bf281ff2" targetNamespace="http://schemas.microsoft.com/office/2006/metadata/properties" ma:root="true" ma:fieldsID="57f77c5d4742cbed61a80095dc20737a" ns3:_="">
    <xsd:import namespace="090871ee-5a17-4fd4-a3e4-a933bf281f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0871ee-5a17-4fd4-a3e4-a933bf281f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46356D-E7AC-4D00-95D7-27073DBDC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8DFD10-52B9-4ED5-9D11-98FF7BFB1A59}">
  <ds:schemaRefs>
    <ds:schemaRef ds:uri="http://schemas.microsoft.com/office/2006/documentManagement/types"/>
    <ds:schemaRef ds:uri="http://purl.org/dc/elements/1.1/"/>
    <ds:schemaRef ds:uri="http://purl.org/dc/terms/"/>
    <ds:schemaRef ds:uri="090871ee-5a17-4fd4-a3e4-a933bf281ff2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5294F6-1832-4930-9F02-431AE7FA3D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0871ee-5a17-4fd4-a3e4-a933bf281f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6772</Words>
  <Application>Microsoft Office PowerPoint</Application>
  <PresentationFormat>Widescreen</PresentationFormat>
  <Paragraphs>531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 Unicode MS</vt:lpstr>
      <vt:lpstr>Arial</vt:lpstr>
      <vt:lpstr>Calibri</vt:lpstr>
      <vt:lpstr>Calibri Light</vt:lpstr>
      <vt:lpstr>Courier New</vt:lpstr>
      <vt:lpstr>Symbol</vt:lpstr>
      <vt:lpstr>Times New Roman</vt:lpstr>
      <vt:lpstr>Office Theme</vt:lpstr>
      <vt:lpstr>System Integration, Communications, AI Pipeline, and Wiring for Perception System </vt:lpstr>
      <vt:lpstr>Executive summary </vt:lpstr>
      <vt:lpstr> System  </vt:lpstr>
      <vt:lpstr>Flight controller (Cube+) physical ports </vt:lpstr>
      <vt:lpstr>Sensor wiring summary table </vt:lpstr>
      <vt:lpstr>Communication protocols &amp;  message flows (fully detailed) </vt:lpstr>
      <vt:lpstr>PowerPoint Presentation</vt:lpstr>
      <vt:lpstr>PowerPoint Presentation</vt:lpstr>
      <vt:lpstr>PowerPoint Presentation</vt:lpstr>
      <vt:lpstr>AI perception pipeline  end-to-end (algorithmic detail) </vt:lpstr>
      <vt:lpstr>Tested Samples</vt:lpstr>
      <vt:lpstr>                                                  UNEVEN SURFACE</vt:lpstr>
      <vt:lpstr>PowerPoint Presentation</vt:lpstr>
      <vt:lpstr>PowerPoint Presentation</vt:lpstr>
      <vt:lpstr>PowerPoint Presentation</vt:lpstr>
      <vt:lpstr>PowerPoint Presentation</vt:lpstr>
      <vt:lpstr>Communication protocols, message flows, pros &amp; 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Latency, rates &amp; timing budgets (practical targets) </vt:lpstr>
      <vt:lpstr>PowerPoint Presentation</vt:lpstr>
      <vt:lpstr>Calibration &amp; alignment (must-have steps) </vt:lpstr>
      <vt:lpstr>Safety, failsafe, and degradation modes </vt:lpstr>
      <vt:lpstr>Numeric worked examples (three commonly used angular resolutions) </vt:lpstr>
      <vt:lpstr>Voxel (TSDF) mapping: How many voxels get created/updated? </vt:lpstr>
      <vt:lpstr>Practical recommendations &amp; knobs you should tune now </vt:lpstr>
      <vt:lpstr>INTEGRATION BLOCK DIAGRAM</vt:lpstr>
      <vt:lpstr>PowerPoint Presentation</vt:lpstr>
      <vt:lpstr>PowerPoint Presentation</vt:lpstr>
      <vt:lpstr>PowerPoint Presentation</vt:lpstr>
      <vt:lpstr>PowerPoint Presentation</vt:lpstr>
      <vt:lpstr>Simplified 360 Degrees Collision Avoidance Perception System</vt:lpstr>
      <vt:lpstr>PowerPoint Presentation</vt:lpstr>
      <vt:lpstr>PowerPoint Presentation</vt:lpstr>
      <vt:lpstr>PowerPoint Presentation</vt:lpstr>
      <vt:lpstr>Communication Links Summary   </vt:lpstr>
      <vt:lpstr>Power Consumption Summary </vt:lpstr>
      <vt:lpstr>Advantages vs Disadvantages </vt:lpstr>
      <vt:lpstr>Practical Flight Time Estimate </vt:lpstr>
      <vt:lpstr>PowerPoint Presentation</vt:lpstr>
      <vt:lpstr>SAFE SPOT LANDING</vt:lpstr>
      <vt:lpstr>ArduPilot / Mission Planner parameters to set </vt:lpstr>
      <vt:lpstr>What the companion computer must send</vt:lpstr>
      <vt:lpstr>Minimal Python (companion computer)</vt:lpstr>
      <vt:lpstr>Practical tips, safety &amp;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Integration, Communications, AI Pipeline, and Wiring for Perception System </dc:title>
  <dc:creator>Shishir A</dc:creator>
  <cp:lastModifiedBy>Shishir A</cp:lastModifiedBy>
  <cp:revision>9</cp:revision>
  <dcterms:created xsi:type="dcterms:W3CDTF">2025-10-07T08:45:20Z</dcterms:created>
  <dcterms:modified xsi:type="dcterms:W3CDTF">2025-10-07T11:22:06Z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0x0101004C52494B545F804194EFB64F46E46357</vt:lpwstr>
  </property>
</Properties>
</file>